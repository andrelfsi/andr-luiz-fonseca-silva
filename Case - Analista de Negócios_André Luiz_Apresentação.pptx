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778" r:id="rId4"/>
    <p:sldId id="319" r:id="rId5"/>
    <p:sldId id="77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4A3161-BAF6-4003-BE1C-2672ACCB2A44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1149CF4-D0EA-4A6A-8805-9A6C20B6D118}">
      <dgm:prSet phldrT="[Texto]" custT="1"/>
      <dgm:spPr/>
      <dgm:t>
        <a:bodyPr/>
        <a:lstStyle/>
        <a:p>
          <a:r>
            <a:rPr lang="pt-BR" sz="1800" b="1" dirty="0"/>
            <a:t>PESSOAS</a:t>
          </a:r>
          <a:r>
            <a:rPr lang="pt-BR" sz="1100" dirty="0"/>
            <a:t>	</a:t>
          </a:r>
        </a:p>
      </dgm:t>
    </dgm:pt>
    <dgm:pt modelId="{84F1A5CD-F4BD-478E-84B5-7D8110D53939}" type="parTrans" cxnId="{A7F24202-B09D-4652-A99E-9EFC59FDF4E0}">
      <dgm:prSet/>
      <dgm:spPr/>
      <dgm:t>
        <a:bodyPr/>
        <a:lstStyle/>
        <a:p>
          <a:endParaRPr lang="pt-BR"/>
        </a:p>
      </dgm:t>
    </dgm:pt>
    <dgm:pt modelId="{472435BD-5056-46F2-A491-84351D12DB34}" type="sibTrans" cxnId="{A7F24202-B09D-4652-A99E-9EFC59FDF4E0}">
      <dgm:prSet/>
      <dgm:spPr/>
      <dgm:t>
        <a:bodyPr/>
        <a:lstStyle/>
        <a:p>
          <a:endParaRPr lang="pt-BR"/>
        </a:p>
      </dgm:t>
    </dgm:pt>
    <dgm:pt modelId="{D23941EB-145B-4E07-B8D5-71B27158EAF1}">
      <dgm:prSet phldrT="[Texto]"/>
      <dgm:spPr/>
      <dgm:t>
        <a:bodyPr/>
        <a:lstStyle/>
        <a:p>
          <a:r>
            <a:rPr lang="pt-BR" dirty="0"/>
            <a:t>Entrada processo manual</a:t>
          </a:r>
        </a:p>
      </dgm:t>
    </dgm:pt>
    <dgm:pt modelId="{1AC2B960-9452-434B-84DC-E1B68AAA61FD}" type="parTrans" cxnId="{AE63CC0B-A1E3-49D3-ADFB-F8D90672E1FB}">
      <dgm:prSet/>
      <dgm:spPr/>
      <dgm:t>
        <a:bodyPr/>
        <a:lstStyle/>
        <a:p>
          <a:endParaRPr lang="pt-BR"/>
        </a:p>
      </dgm:t>
    </dgm:pt>
    <dgm:pt modelId="{C911055A-8C65-4774-B434-7EBB12F2359C}" type="sibTrans" cxnId="{AE63CC0B-A1E3-49D3-ADFB-F8D90672E1FB}">
      <dgm:prSet/>
      <dgm:spPr/>
      <dgm:t>
        <a:bodyPr/>
        <a:lstStyle/>
        <a:p>
          <a:endParaRPr lang="pt-BR"/>
        </a:p>
      </dgm:t>
    </dgm:pt>
    <dgm:pt modelId="{C322E5FD-375A-4874-9432-41C91AE5C41D}">
      <dgm:prSet phldrT="[Texto]" custT="1"/>
      <dgm:spPr/>
      <dgm:t>
        <a:bodyPr/>
        <a:lstStyle/>
        <a:p>
          <a:r>
            <a:rPr lang="pt-BR" sz="1800" b="1" dirty="0"/>
            <a:t>SISTEMAS</a:t>
          </a:r>
          <a:endParaRPr lang="pt-BR" sz="1600" b="1" dirty="0"/>
        </a:p>
      </dgm:t>
    </dgm:pt>
    <dgm:pt modelId="{6CB9BAAB-48F2-48AA-8147-B747856DF337}" type="parTrans" cxnId="{22777CA7-FD46-40CF-9511-33AD0441F02F}">
      <dgm:prSet/>
      <dgm:spPr/>
      <dgm:t>
        <a:bodyPr/>
        <a:lstStyle/>
        <a:p>
          <a:endParaRPr lang="pt-BR"/>
        </a:p>
      </dgm:t>
    </dgm:pt>
    <dgm:pt modelId="{461C7B19-2A1F-4767-8591-5B20F13BAEB7}" type="sibTrans" cxnId="{22777CA7-FD46-40CF-9511-33AD0441F02F}">
      <dgm:prSet/>
      <dgm:spPr/>
      <dgm:t>
        <a:bodyPr/>
        <a:lstStyle/>
        <a:p>
          <a:endParaRPr lang="pt-BR"/>
        </a:p>
      </dgm:t>
    </dgm:pt>
    <dgm:pt modelId="{08495F73-CA84-460A-B442-388096E42D50}">
      <dgm:prSet phldrT="[Texto]"/>
      <dgm:spPr/>
      <dgm:t>
        <a:bodyPr/>
        <a:lstStyle/>
        <a:p>
          <a:r>
            <a:rPr lang="pt-BR" dirty="0"/>
            <a:t>Sistemas múltiplos sem integração</a:t>
          </a:r>
        </a:p>
      </dgm:t>
    </dgm:pt>
    <dgm:pt modelId="{D40EC0E5-7E98-4732-9F69-699F24BCC6D3}" type="parTrans" cxnId="{DA3BD183-4359-46BF-BF7A-D5139A4FD568}">
      <dgm:prSet/>
      <dgm:spPr/>
      <dgm:t>
        <a:bodyPr/>
        <a:lstStyle/>
        <a:p>
          <a:endParaRPr lang="pt-BR"/>
        </a:p>
      </dgm:t>
    </dgm:pt>
    <dgm:pt modelId="{BF433580-4779-431C-9CD1-0383E0AB4595}" type="sibTrans" cxnId="{DA3BD183-4359-46BF-BF7A-D5139A4FD568}">
      <dgm:prSet/>
      <dgm:spPr/>
      <dgm:t>
        <a:bodyPr/>
        <a:lstStyle/>
        <a:p>
          <a:endParaRPr lang="pt-BR"/>
        </a:p>
      </dgm:t>
    </dgm:pt>
    <dgm:pt modelId="{A0C56DEE-16F2-48F5-AC1C-B973AD81B40D}">
      <dgm:prSet phldrT="[Texto]" custT="1"/>
      <dgm:spPr/>
      <dgm:t>
        <a:bodyPr/>
        <a:lstStyle/>
        <a:p>
          <a:r>
            <a:rPr lang="pt-BR" sz="1800" b="1" dirty="0"/>
            <a:t>PROCESSO/PESSOAS</a:t>
          </a:r>
        </a:p>
      </dgm:t>
    </dgm:pt>
    <dgm:pt modelId="{107F10A5-9078-40E8-8CD9-C0D795A4B516}" type="parTrans" cxnId="{5C0BBA65-C14E-4CFC-A245-C4DBB923856E}">
      <dgm:prSet/>
      <dgm:spPr/>
      <dgm:t>
        <a:bodyPr/>
        <a:lstStyle/>
        <a:p>
          <a:endParaRPr lang="pt-BR"/>
        </a:p>
      </dgm:t>
    </dgm:pt>
    <dgm:pt modelId="{A8DCD331-FBA8-457E-A64C-3B017D14AC9B}" type="sibTrans" cxnId="{5C0BBA65-C14E-4CFC-A245-C4DBB923856E}">
      <dgm:prSet/>
      <dgm:spPr/>
      <dgm:t>
        <a:bodyPr/>
        <a:lstStyle/>
        <a:p>
          <a:endParaRPr lang="pt-BR"/>
        </a:p>
      </dgm:t>
    </dgm:pt>
    <dgm:pt modelId="{2AF082D4-03E1-4F06-BA54-C4AEF233F9F6}">
      <dgm:prSet phldrT="[Texto]"/>
      <dgm:spPr/>
      <dgm:t>
        <a:bodyPr/>
        <a:lstStyle/>
        <a:p>
          <a:r>
            <a:rPr lang="pt-BR" dirty="0"/>
            <a:t>Gestão de confirmações FUP </a:t>
          </a:r>
          <a:r>
            <a:rPr lang="pt-BR" dirty="0" err="1"/>
            <a:t>maual</a:t>
          </a:r>
          <a:endParaRPr lang="pt-BR" dirty="0"/>
        </a:p>
      </dgm:t>
    </dgm:pt>
    <dgm:pt modelId="{CFBA622F-8437-49ED-9B3C-987FB3CAF99C}" type="parTrans" cxnId="{48F430AE-92F7-4162-BC5C-59FA98E7353B}">
      <dgm:prSet/>
      <dgm:spPr/>
      <dgm:t>
        <a:bodyPr/>
        <a:lstStyle/>
        <a:p>
          <a:endParaRPr lang="pt-BR"/>
        </a:p>
      </dgm:t>
    </dgm:pt>
    <dgm:pt modelId="{AA395E84-AE10-4F77-85C8-B1A718470528}" type="sibTrans" cxnId="{48F430AE-92F7-4162-BC5C-59FA98E7353B}">
      <dgm:prSet/>
      <dgm:spPr/>
      <dgm:t>
        <a:bodyPr/>
        <a:lstStyle/>
        <a:p>
          <a:endParaRPr lang="pt-BR"/>
        </a:p>
      </dgm:t>
    </dgm:pt>
    <dgm:pt modelId="{7E44D300-4F69-463A-AF41-C85DA92F8859}">
      <dgm:prSet phldrT="[Texto]" custT="1"/>
      <dgm:spPr/>
      <dgm:t>
        <a:bodyPr/>
        <a:lstStyle/>
        <a:p>
          <a:r>
            <a:rPr lang="pt-BR" sz="1800" b="1" dirty="0"/>
            <a:t>PROCESSO/PESSOAS</a:t>
          </a:r>
        </a:p>
      </dgm:t>
    </dgm:pt>
    <dgm:pt modelId="{7D955C46-361F-4E87-96F5-6CC84883AC02}" type="parTrans" cxnId="{98891666-C2C4-4DBF-A218-55F79645EE8A}">
      <dgm:prSet/>
      <dgm:spPr/>
      <dgm:t>
        <a:bodyPr/>
        <a:lstStyle/>
        <a:p>
          <a:endParaRPr lang="pt-BR"/>
        </a:p>
      </dgm:t>
    </dgm:pt>
    <dgm:pt modelId="{921F85BC-3977-455B-8A18-D37179286D91}" type="sibTrans" cxnId="{98891666-C2C4-4DBF-A218-55F79645EE8A}">
      <dgm:prSet/>
      <dgm:spPr/>
      <dgm:t>
        <a:bodyPr/>
        <a:lstStyle/>
        <a:p>
          <a:endParaRPr lang="pt-BR"/>
        </a:p>
      </dgm:t>
    </dgm:pt>
    <dgm:pt modelId="{877631D2-1B77-49D5-869B-32895E8A3751}">
      <dgm:prSet phldrT="[Texto]"/>
      <dgm:spPr/>
      <dgm:t>
        <a:bodyPr/>
        <a:lstStyle/>
        <a:p>
          <a:r>
            <a:rPr lang="pt-BR" dirty="0"/>
            <a:t>Validação e conferencia manual 	</a:t>
          </a:r>
        </a:p>
      </dgm:t>
    </dgm:pt>
    <dgm:pt modelId="{CEE93222-8C0E-4755-8F0F-D17D8AA8BC20}" type="parTrans" cxnId="{73633D71-0AEE-4BCF-9905-4BC56E22B469}">
      <dgm:prSet/>
      <dgm:spPr/>
      <dgm:t>
        <a:bodyPr/>
        <a:lstStyle/>
        <a:p>
          <a:endParaRPr lang="pt-BR"/>
        </a:p>
      </dgm:t>
    </dgm:pt>
    <dgm:pt modelId="{0E2F6399-93AA-42C4-AAF3-114F21AFEB3E}" type="sibTrans" cxnId="{73633D71-0AEE-4BCF-9905-4BC56E22B469}">
      <dgm:prSet/>
      <dgm:spPr/>
      <dgm:t>
        <a:bodyPr/>
        <a:lstStyle/>
        <a:p>
          <a:endParaRPr lang="pt-BR"/>
        </a:p>
      </dgm:t>
    </dgm:pt>
    <dgm:pt modelId="{FB81A9AA-A5E3-4675-B658-158E02F8D5DD}" type="pres">
      <dgm:prSet presAssocID="{BF4A3161-BAF6-4003-BE1C-2672ACCB2A44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6BE1F635-216F-4592-94E4-620711DA74F5}" type="pres">
      <dgm:prSet presAssocID="{BF4A3161-BAF6-4003-BE1C-2672ACCB2A44}" presName="children" presStyleCnt="0"/>
      <dgm:spPr/>
    </dgm:pt>
    <dgm:pt modelId="{53767205-FD2C-48D3-97C1-DEAFF9B919B1}" type="pres">
      <dgm:prSet presAssocID="{BF4A3161-BAF6-4003-BE1C-2672ACCB2A44}" presName="child1group" presStyleCnt="0"/>
      <dgm:spPr/>
    </dgm:pt>
    <dgm:pt modelId="{6EAF19E3-8012-4F34-BCEB-B1810D0116CF}" type="pres">
      <dgm:prSet presAssocID="{BF4A3161-BAF6-4003-BE1C-2672ACCB2A44}" presName="child1" presStyleLbl="bgAcc1" presStyleIdx="0" presStyleCnt="4"/>
      <dgm:spPr/>
    </dgm:pt>
    <dgm:pt modelId="{4962DF86-3513-4CD0-9B9A-B3C18B6E1164}" type="pres">
      <dgm:prSet presAssocID="{BF4A3161-BAF6-4003-BE1C-2672ACCB2A44}" presName="child1Text" presStyleLbl="bgAcc1" presStyleIdx="0" presStyleCnt="4">
        <dgm:presLayoutVars>
          <dgm:bulletEnabled val="1"/>
        </dgm:presLayoutVars>
      </dgm:prSet>
      <dgm:spPr/>
    </dgm:pt>
    <dgm:pt modelId="{FF3FA7E1-317F-43FA-9A72-C5A8A8988CE6}" type="pres">
      <dgm:prSet presAssocID="{BF4A3161-BAF6-4003-BE1C-2672ACCB2A44}" presName="child2group" presStyleCnt="0"/>
      <dgm:spPr/>
    </dgm:pt>
    <dgm:pt modelId="{5A406EA5-5767-4A13-82FA-4AE01A02D8B4}" type="pres">
      <dgm:prSet presAssocID="{BF4A3161-BAF6-4003-BE1C-2672ACCB2A44}" presName="child2" presStyleLbl="bgAcc1" presStyleIdx="1" presStyleCnt="4"/>
      <dgm:spPr/>
    </dgm:pt>
    <dgm:pt modelId="{1253506F-C27A-48CF-B3B1-6D2FC91B6D54}" type="pres">
      <dgm:prSet presAssocID="{BF4A3161-BAF6-4003-BE1C-2672ACCB2A44}" presName="child2Text" presStyleLbl="bgAcc1" presStyleIdx="1" presStyleCnt="4">
        <dgm:presLayoutVars>
          <dgm:bulletEnabled val="1"/>
        </dgm:presLayoutVars>
      </dgm:prSet>
      <dgm:spPr/>
    </dgm:pt>
    <dgm:pt modelId="{57CABFDE-5B80-4E09-B9E0-29FEB4A35C02}" type="pres">
      <dgm:prSet presAssocID="{BF4A3161-BAF6-4003-BE1C-2672ACCB2A44}" presName="child3group" presStyleCnt="0"/>
      <dgm:spPr/>
    </dgm:pt>
    <dgm:pt modelId="{FED28363-92CD-4BCC-9953-BD512906DDA2}" type="pres">
      <dgm:prSet presAssocID="{BF4A3161-BAF6-4003-BE1C-2672ACCB2A44}" presName="child3" presStyleLbl="bgAcc1" presStyleIdx="2" presStyleCnt="4"/>
      <dgm:spPr/>
    </dgm:pt>
    <dgm:pt modelId="{9B1770DD-21F9-4B1C-8921-2B3173BDAB91}" type="pres">
      <dgm:prSet presAssocID="{BF4A3161-BAF6-4003-BE1C-2672ACCB2A44}" presName="child3Text" presStyleLbl="bgAcc1" presStyleIdx="2" presStyleCnt="4">
        <dgm:presLayoutVars>
          <dgm:bulletEnabled val="1"/>
        </dgm:presLayoutVars>
      </dgm:prSet>
      <dgm:spPr/>
    </dgm:pt>
    <dgm:pt modelId="{7DDDA15A-EE35-4D39-9435-CBA2BE22368D}" type="pres">
      <dgm:prSet presAssocID="{BF4A3161-BAF6-4003-BE1C-2672ACCB2A44}" presName="child4group" presStyleCnt="0"/>
      <dgm:spPr/>
    </dgm:pt>
    <dgm:pt modelId="{1C10C0A5-B6FC-419F-80E3-7F60C0B54E88}" type="pres">
      <dgm:prSet presAssocID="{BF4A3161-BAF6-4003-BE1C-2672ACCB2A44}" presName="child4" presStyleLbl="bgAcc1" presStyleIdx="3" presStyleCnt="4"/>
      <dgm:spPr/>
    </dgm:pt>
    <dgm:pt modelId="{35503D5F-86AE-4C33-B669-1E0A3D2A9B33}" type="pres">
      <dgm:prSet presAssocID="{BF4A3161-BAF6-4003-BE1C-2672ACCB2A44}" presName="child4Text" presStyleLbl="bgAcc1" presStyleIdx="3" presStyleCnt="4">
        <dgm:presLayoutVars>
          <dgm:bulletEnabled val="1"/>
        </dgm:presLayoutVars>
      </dgm:prSet>
      <dgm:spPr/>
    </dgm:pt>
    <dgm:pt modelId="{85B0EC95-510B-4088-97F7-92F95C82F3F6}" type="pres">
      <dgm:prSet presAssocID="{BF4A3161-BAF6-4003-BE1C-2672ACCB2A44}" presName="childPlaceholder" presStyleCnt="0"/>
      <dgm:spPr/>
    </dgm:pt>
    <dgm:pt modelId="{4A5FBC9D-0D47-404C-B2F7-0C2667B7C5AB}" type="pres">
      <dgm:prSet presAssocID="{BF4A3161-BAF6-4003-BE1C-2672ACCB2A44}" presName="circle" presStyleCnt="0"/>
      <dgm:spPr/>
    </dgm:pt>
    <dgm:pt modelId="{93447E2E-FA3D-4D63-959F-3347757DF8E3}" type="pres">
      <dgm:prSet presAssocID="{BF4A3161-BAF6-4003-BE1C-2672ACCB2A44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2E959F1-205E-4A66-9657-44E38CED3ADC}" type="pres">
      <dgm:prSet presAssocID="{BF4A3161-BAF6-4003-BE1C-2672ACCB2A44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80E63A7-7D19-4B40-9341-3B352D521712}" type="pres">
      <dgm:prSet presAssocID="{BF4A3161-BAF6-4003-BE1C-2672ACCB2A44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9D014C2-166A-4CFC-BE9B-A2AC3BFD2F6E}" type="pres">
      <dgm:prSet presAssocID="{BF4A3161-BAF6-4003-BE1C-2672ACCB2A44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2BAF464-3DC7-4364-BF04-8FC59682E373}" type="pres">
      <dgm:prSet presAssocID="{BF4A3161-BAF6-4003-BE1C-2672ACCB2A44}" presName="quadrantPlaceholder" presStyleCnt="0"/>
      <dgm:spPr/>
    </dgm:pt>
    <dgm:pt modelId="{A32D62CD-7F96-4354-B1F7-AD53529E007E}" type="pres">
      <dgm:prSet presAssocID="{BF4A3161-BAF6-4003-BE1C-2672ACCB2A44}" presName="center1" presStyleLbl="fgShp" presStyleIdx="0" presStyleCnt="2"/>
      <dgm:spPr/>
    </dgm:pt>
    <dgm:pt modelId="{A431E35D-FC8A-404B-A8E7-96BC316666AD}" type="pres">
      <dgm:prSet presAssocID="{BF4A3161-BAF6-4003-BE1C-2672ACCB2A44}" presName="center2" presStyleLbl="fgShp" presStyleIdx="1" presStyleCnt="2"/>
      <dgm:spPr/>
    </dgm:pt>
  </dgm:ptLst>
  <dgm:cxnLst>
    <dgm:cxn modelId="{A7F24202-B09D-4652-A99E-9EFC59FDF4E0}" srcId="{BF4A3161-BAF6-4003-BE1C-2672ACCB2A44}" destId="{51149CF4-D0EA-4A6A-8805-9A6C20B6D118}" srcOrd="0" destOrd="0" parTransId="{84F1A5CD-F4BD-478E-84B5-7D8110D53939}" sibTransId="{472435BD-5056-46F2-A491-84351D12DB34}"/>
    <dgm:cxn modelId="{AE63CC0B-A1E3-49D3-ADFB-F8D90672E1FB}" srcId="{51149CF4-D0EA-4A6A-8805-9A6C20B6D118}" destId="{D23941EB-145B-4E07-B8D5-71B27158EAF1}" srcOrd="0" destOrd="0" parTransId="{1AC2B960-9452-434B-84DC-E1B68AAA61FD}" sibTransId="{C911055A-8C65-4774-B434-7EBB12F2359C}"/>
    <dgm:cxn modelId="{79164125-FC2C-4B97-9932-771CE66DA62E}" type="presOf" srcId="{7E44D300-4F69-463A-AF41-C85DA92F8859}" destId="{A9D014C2-166A-4CFC-BE9B-A2AC3BFD2F6E}" srcOrd="0" destOrd="0" presId="urn:microsoft.com/office/officeart/2005/8/layout/cycle4"/>
    <dgm:cxn modelId="{D5FBC642-8E98-4050-A431-CE39E6B43928}" type="presOf" srcId="{08495F73-CA84-460A-B442-388096E42D50}" destId="{1253506F-C27A-48CF-B3B1-6D2FC91B6D54}" srcOrd="1" destOrd="0" presId="urn:microsoft.com/office/officeart/2005/8/layout/cycle4"/>
    <dgm:cxn modelId="{8D1B9263-9785-49D1-825D-3D561B6F1FC1}" type="presOf" srcId="{51149CF4-D0EA-4A6A-8805-9A6C20B6D118}" destId="{93447E2E-FA3D-4D63-959F-3347757DF8E3}" srcOrd="0" destOrd="0" presId="urn:microsoft.com/office/officeart/2005/8/layout/cycle4"/>
    <dgm:cxn modelId="{5C0BBA65-C14E-4CFC-A245-C4DBB923856E}" srcId="{BF4A3161-BAF6-4003-BE1C-2672ACCB2A44}" destId="{A0C56DEE-16F2-48F5-AC1C-B973AD81B40D}" srcOrd="2" destOrd="0" parTransId="{107F10A5-9078-40E8-8CD9-C0D795A4B516}" sibTransId="{A8DCD331-FBA8-457E-A64C-3B017D14AC9B}"/>
    <dgm:cxn modelId="{98891666-C2C4-4DBF-A218-55F79645EE8A}" srcId="{BF4A3161-BAF6-4003-BE1C-2672ACCB2A44}" destId="{7E44D300-4F69-463A-AF41-C85DA92F8859}" srcOrd="3" destOrd="0" parTransId="{7D955C46-361F-4E87-96F5-6CC84883AC02}" sibTransId="{921F85BC-3977-455B-8A18-D37179286D91}"/>
    <dgm:cxn modelId="{E2E21A70-F34E-45A2-A3CE-14FA16C505C3}" type="presOf" srcId="{2AF082D4-03E1-4F06-BA54-C4AEF233F9F6}" destId="{9B1770DD-21F9-4B1C-8921-2B3173BDAB91}" srcOrd="1" destOrd="0" presId="urn:microsoft.com/office/officeart/2005/8/layout/cycle4"/>
    <dgm:cxn modelId="{73633D71-0AEE-4BCF-9905-4BC56E22B469}" srcId="{7E44D300-4F69-463A-AF41-C85DA92F8859}" destId="{877631D2-1B77-49D5-869B-32895E8A3751}" srcOrd="0" destOrd="0" parTransId="{CEE93222-8C0E-4755-8F0F-D17D8AA8BC20}" sibTransId="{0E2F6399-93AA-42C4-AAF3-114F21AFEB3E}"/>
    <dgm:cxn modelId="{CE193B52-968B-4EB4-B861-D8C08736BE4B}" type="presOf" srcId="{BF4A3161-BAF6-4003-BE1C-2672ACCB2A44}" destId="{FB81A9AA-A5E3-4675-B658-158E02F8D5DD}" srcOrd="0" destOrd="0" presId="urn:microsoft.com/office/officeart/2005/8/layout/cycle4"/>
    <dgm:cxn modelId="{264E8A74-8A42-4271-9100-88FB770F02D0}" type="presOf" srcId="{A0C56DEE-16F2-48F5-AC1C-B973AD81B40D}" destId="{580E63A7-7D19-4B40-9341-3B352D521712}" srcOrd="0" destOrd="0" presId="urn:microsoft.com/office/officeart/2005/8/layout/cycle4"/>
    <dgm:cxn modelId="{DA3BD183-4359-46BF-BF7A-D5139A4FD568}" srcId="{C322E5FD-375A-4874-9432-41C91AE5C41D}" destId="{08495F73-CA84-460A-B442-388096E42D50}" srcOrd="0" destOrd="0" parTransId="{D40EC0E5-7E98-4732-9F69-699F24BCC6D3}" sibTransId="{BF433580-4779-431C-9CD1-0383E0AB4595}"/>
    <dgm:cxn modelId="{349B3F8E-44AF-4657-86BC-C2B4C6A5C6CF}" type="presOf" srcId="{877631D2-1B77-49D5-869B-32895E8A3751}" destId="{1C10C0A5-B6FC-419F-80E3-7F60C0B54E88}" srcOrd="0" destOrd="0" presId="urn:microsoft.com/office/officeart/2005/8/layout/cycle4"/>
    <dgm:cxn modelId="{1020AA92-EBDE-4FCA-BF41-A9F5E47B2240}" type="presOf" srcId="{D23941EB-145B-4E07-B8D5-71B27158EAF1}" destId="{6EAF19E3-8012-4F34-BCEB-B1810D0116CF}" srcOrd="0" destOrd="0" presId="urn:microsoft.com/office/officeart/2005/8/layout/cycle4"/>
    <dgm:cxn modelId="{49A721A7-DF66-4B23-80B2-1F4AD2F1ABB1}" type="presOf" srcId="{877631D2-1B77-49D5-869B-32895E8A3751}" destId="{35503D5F-86AE-4C33-B669-1E0A3D2A9B33}" srcOrd="1" destOrd="0" presId="urn:microsoft.com/office/officeart/2005/8/layout/cycle4"/>
    <dgm:cxn modelId="{22777CA7-FD46-40CF-9511-33AD0441F02F}" srcId="{BF4A3161-BAF6-4003-BE1C-2672ACCB2A44}" destId="{C322E5FD-375A-4874-9432-41C91AE5C41D}" srcOrd="1" destOrd="0" parTransId="{6CB9BAAB-48F2-48AA-8147-B747856DF337}" sibTransId="{461C7B19-2A1F-4767-8591-5B20F13BAEB7}"/>
    <dgm:cxn modelId="{62BE28AA-ED34-4231-A58B-201135D2135B}" type="presOf" srcId="{2AF082D4-03E1-4F06-BA54-C4AEF233F9F6}" destId="{FED28363-92CD-4BCC-9953-BD512906DDA2}" srcOrd="0" destOrd="0" presId="urn:microsoft.com/office/officeart/2005/8/layout/cycle4"/>
    <dgm:cxn modelId="{E1AEFFAA-06F2-4063-83D8-95BB18AB3513}" type="presOf" srcId="{D23941EB-145B-4E07-B8D5-71B27158EAF1}" destId="{4962DF86-3513-4CD0-9B9A-B3C18B6E1164}" srcOrd="1" destOrd="0" presId="urn:microsoft.com/office/officeart/2005/8/layout/cycle4"/>
    <dgm:cxn modelId="{48F430AE-92F7-4162-BC5C-59FA98E7353B}" srcId="{A0C56DEE-16F2-48F5-AC1C-B973AD81B40D}" destId="{2AF082D4-03E1-4F06-BA54-C4AEF233F9F6}" srcOrd="0" destOrd="0" parTransId="{CFBA622F-8437-49ED-9B3C-987FB3CAF99C}" sibTransId="{AA395E84-AE10-4F77-85C8-B1A718470528}"/>
    <dgm:cxn modelId="{CEC44EDE-F474-48DE-800E-B53545739B10}" type="presOf" srcId="{C322E5FD-375A-4874-9432-41C91AE5C41D}" destId="{42E959F1-205E-4A66-9657-44E38CED3ADC}" srcOrd="0" destOrd="0" presId="urn:microsoft.com/office/officeart/2005/8/layout/cycle4"/>
    <dgm:cxn modelId="{3ED14DFA-B88B-4D70-94A0-90F5FB463DD6}" type="presOf" srcId="{08495F73-CA84-460A-B442-388096E42D50}" destId="{5A406EA5-5767-4A13-82FA-4AE01A02D8B4}" srcOrd="0" destOrd="0" presId="urn:microsoft.com/office/officeart/2005/8/layout/cycle4"/>
    <dgm:cxn modelId="{8CBF324D-ABD2-4BB0-B55B-602F1841A904}" type="presParOf" srcId="{FB81A9AA-A5E3-4675-B658-158E02F8D5DD}" destId="{6BE1F635-216F-4592-94E4-620711DA74F5}" srcOrd="0" destOrd="0" presId="urn:microsoft.com/office/officeart/2005/8/layout/cycle4"/>
    <dgm:cxn modelId="{B8E5CCB4-67DC-421D-91E5-9C38D3BF5C46}" type="presParOf" srcId="{6BE1F635-216F-4592-94E4-620711DA74F5}" destId="{53767205-FD2C-48D3-97C1-DEAFF9B919B1}" srcOrd="0" destOrd="0" presId="urn:microsoft.com/office/officeart/2005/8/layout/cycle4"/>
    <dgm:cxn modelId="{726FDFEE-5AD3-47DF-95E0-2D621F201EF2}" type="presParOf" srcId="{53767205-FD2C-48D3-97C1-DEAFF9B919B1}" destId="{6EAF19E3-8012-4F34-BCEB-B1810D0116CF}" srcOrd="0" destOrd="0" presId="urn:microsoft.com/office/officeart/2005/8/layout/cycle4"/>
    <dgm:cxn modelId="{B8D9DFC2-8008-4858-8D0F-8DD2CAD185F0}" type="presParOf" srcId="{53767205-FD2C-48D3-97C1-DEAFF9B919B1}" destId="{4962DF86-3513-4CD0-9B9A-B3C18B6E1164}" srcOrd="1" destOrd="0" presId="urn:microsoft.com/office/officeart/2005/8/layout/cycle4"/>
    <dgm:cxn modelId="{1C78572A-489C-4279-9B47-F71B285B0593}" type="presParOf" srcId="{6BE1F635-216F-4592-94E4-620711DA74F5}" destId="{FF3FA7E1-317F-43FA-9A72-C5A8A8988CE6}" srcOrd="1" destOrd="0" presId="urn:microsoft.com/office/officeart/2005/8/layout/cycle4"/>
    <dgm:cxn modelId="{813D6D50-ED33-4C0F-88E6-09F594740B93}" type="presParOf" srcId="{FF3FA7E1-317F-43FA-9A72-C5A8A8988CE6}" destId="{5A406EA5-5767-4A13-82FA-4AE01A02D8B4}" srcOrd="0" destOrd="0" presId="urn:microsoft.com/office/officeart/2005/8/layout/cycle4"/>
    <dgm:cxn modelId="{5EA04B26-75D6-4A50-A8CF-26B3272DB86C}" type="presParOf" srcId="{FF3FA7E1-317F-43FA-9A72-C5A8A8988CE6}" destId="{1253506F-C27A-48CF-B3B1-6D2FC91B6D54}" srcOrd="1" destOrd="0" presId="urn:microsoft.com/office/officeart/2005/8/layout/cycle4"/>
    <dgm:cxn modelId="{B95FD7B3-2EE5-4542-B60F-CD443C5524A4}" type="presParOf" srcId="{6BE1F635-216F-4592-94E4-620711DA74F5}" destId="{57CABFDE-5B80-4E09-B9E0-29FEB4A35C02}" srcOrd="2" destOrd="0" presId="urn:microsoft.com/office/officeart/2005/8/layout/cycle4"/>
    <dgm:cxn modelId="{83C1F214-932D-4D81-9C10-0EF43DE4090A}" type="presParOf" srcId="{57CABFDE-5B80-4E09-B9E0-29FEB4A35C02}" destId="{FED28363-92CD-4BCC-9953-BD512906DDA2}" srcOrd="0" destOrd="0" presId="urn:microsoft.com/office/officeart/2005/8/layout/cycle4"/>
    <dgm:cxn modelId="{BD937020-80C4-4866-9EEF-F7622AF14121}" type="presParOf" srcId="{57CABFDE-5B80-4E09-B9E0-29FEB4A35C02}" destId="{9B1770DD-21F9-4B1C-8921-2B3173BDAB91}" srcOrd="1" destOrd="0" presId="urn:microsoft.com/office/officeart/2005/8/layout/cycle4"/>
    <dgm:cxn modelId="{4DC105FD-2446-4503-A4FF-37EFBDB87FFB}" type="presParOf" srcId="{6BE1F635-216F-4592-94E4-620711DA74F5}" destId="{7DDDA15A-EE35-4D39-9435-CBA2BE22368D}" srcOrd="3" destOrd="0" presId="urn:microsoft.com/office/officeart/2005/8/layout/cycle4"/>
    <dgm:cxn modelId="{31C2592D-2708-4B33-9F6D-4F8FCBDA9C92}" type="presParOf" srcId="{7DDDA15A-EE35-4D39-9435-CBA2BE22368D}" destId="{1C10C0A5-B6FC-419F-80E3-7F60C0B54E88}" srcOrd="0" destOrd="0" presId="urn:microsoft.com/office/officeart/2005/8/layout/cycle4"/>
    <dgm:cxn modelId="{36061494-4E61-4C6F-8DB4-89E0CD8CD291}" type="presParOf" srcId="{7DDDA15A-EE35-4D39-9435-CBA2BE22368D}" destId="{35503D5F-86AE-4C33-B669-1E0A3D2A9B33}" srcOrd="1" destOrd="0" presId="urn:microsoft.com/office/officeart/2005/8/layout/cycle4"/>
    <dgm:cxn modelId="{8B1AB166-FE90-4B6B-A435-90D9A2C7DCC8}" type="presParOf" srcId="{6BE1F635-216F-4592-94E4-620711DA74F5}" destId="{85B0EC95-510B-4088-97F7-92F95C82F3F6}" srcOrd="4" destOrd="0" presId="urn:microsoft.com/office/officeart/2005/8/layout/cycle4"/>
    <dgm:cxn modelId="{7D819129-1010-4088-A8D1-5EB9219DDAE4}" type="presParOf" srcId="{FB81A9AA-A5E3-4675-B658-158E02F8D5DD}" destId="{4A5FBC9D-0D47-404C-B2F7-0C2667B7C5AB}" srcOrd="1" destOrd="0" presId="urn:microsoft.com/office/officeart/2005/8/layout/cycle4"/>
    <dgm:cxn modelId="{2FC129E7-777E-45D1-A45C-3C3E1100D9F2}" type="presParOf" srcId="{4A5FBC9D-0D47-404C-B2F7-0C2667B7C5AB}" destId="{93447E2E-FA3D-4D63-959F-3347757DF8E3}" srcOrd="0" destOrd="0" presId="urn:microsoft.com/office/officeart/2005/8/layout/cycle4"/>
    <dgm:cxn modelId="{48729D48-3A17-4EA5-A812-4372AD126CF0}" type="presParOf" srcId="{4A5FBC9D-0D47-404C-B2F7-0C2667B7C5AB}" destId="{42E959F1-205E-4A66-9657-44E38CED3ADC}" srcOrd="1" destOrd="0" presId="urn:microsoft.com/office/officeart/2005/8/layout/cycle4"/>
    <dgm:cxn modelId="{856BB065-5684-4D1D-8EA4-387550170FD1}" type="presParOf" srcId="{4A5FBC9D-0D47-404C-B2F7-0C2667B7C5AB}" destId="{580E63A7-7D19-4B40-9341-3B352D521712}" srcOrd="2" destOrd="0" presId="urn:microsoft.com/office/officeart/2005/8/layout/cycle4"/>
    <dgm:cxn modelId="{7CBB43DB-9FBC-4B98-ACA9-8A6F7FB738F0}" type="presParOf" srcId="{4A5FBC9D-0D47-404C-B2F7-0C2667B7C5AB}" destId="{A9D014C2-166A-4CFC-BE9B-A2AC3BFD2F6E}" srcOrd="3" destOrd="0" presId="urn:microsoft.com/office/officeart/2005/8/layout/cycle4"/>
    <dgm:cxn modelId="{AF9433D9-63DE-41E6-BDC1-188188686F90}" type="presParOf" srcId="{4A5FBC9D-0D47-404C-B2F7-0C2667B7C5AB}" destId="{32BAF464-3DC7-4364-BF04-8FC59682E373}" srcOrd="4" destOrd="0" presId="urn:microsoft.com/office/officeart/2005/8/layout/cycle4"/>
    <dgm:cxn modelId="{A55D4991-8AD0-4038-9757-0749CA3C9AE2}" type="presParOf" srcId="{FB81A9AA-A5E3-4675-B658-158E02F8D5DD}" destId="{A32D62CD-7F96-4354-B1F7-AD53529E007E}" srcOrd="2" destOrd="0" presId="urn:microsoft.com/office/officeart/2005/8/layout/cycle4"/>
    <dgm:cxn modelId="{CDA68EB4-27D3-4F17-8CFD-63576FDAF666}" type="presParOf" srcId="{FB81A9AA-A5E3-4675-B658-158E02F8D5DD}" destId="{A431E35D-FC8A-404B-A8E7-96BC316666A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28363-92CD-4BCC-9953-BD512906DDA2}">
      <dsp:nvSpPr>
        <dsp:cNvPr id="0" name=""/>
        <dsp:cNvSpPr/>
      </dsp:nvSpPr>
      <dsp:spPr>
        <a:xfrm>
          <a:off x="3692618" y="3075085"/>
          <a:ext cx="2233958" cy="1447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Gestão de confirmações FUP </a:t>
          </a:r>
          <a:r>
            <a:rPr lang="pt-BR" sz="1500" kern="1200" dirty="0" err="1"/>
            <a:t>maual</a:t>
          </a:r>
          <a:endParaRPr lang="pt-BR" sz="1500" kern="1200" dirty="0"/>
        </a:p>
      </dsp:txBody>
      <dsp:txXfrm>
        <a:off x="4394594" y="3468647"/>
        <a:ext cx="1500195" cy="1021748"/>
      </dsp:txXfrm>
    </dsp:sp>
    <dsp:sp modelId="{1C10C0A5-B6FC-419F-80E3-7F60C0B54E88}">
      <dsp:nvSpPr>
        <dsp:cNvPr id="0" name=""/>
        <dsp:cNvSpPr/>
      </dsp:nvSpPr>
      <dsp:spPr>
        <a:xfrm>
          <a:off x="47738" y="3075085"/>
          <a:ext cx="2233958" cy="1447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Validação e conferencia manual 	</a:t>
          </a:r>
        </a:p>
      </dsp:txBody>
      <dsp:txXfrm>
        <a:off x="79526" y="3468647"/>
        <a:ext cx="1500195" cy="1021748"/>
      </dsp:txXfrm>
    </dsp:sp>
    <dsp:sp modelId="{5A406EA5-5767-4A13-82FA-4AE01A02D8B4}">
      <dsp:nvSpPr>
        <dsp:cNvPr id="0" name=""/>
        <dsp:cNvSpPr/>
      </dsp:nvSpPr>
      <dsp:spPr>
        <a:xfrm>
          <a:off x="3692618" y="0"/>
          <a:ext cx="2233958" cy="1447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Sistemas múltiplos sem integração</a:t>
          </a:r>
        </a:p>
      </dsp:txBody>
      <dsp:txXfrm>
        <a:off x="4394594" y="31788"/>
        <a:ext cx="1500195" cy="1021748"/>
      </dsp:txXfrm>
    </dsp:sp>
    <dsp:sp modelId="{6EAF19E3-8012-4F34-BCEB-B1810D0116CF}">
      <dsp:nvSpPr>
        <dsp:cNvPr id="0" name=""/>
        <dsp:cNvSpPr/>
      </dsp:nvSpPr>
      <dsp:spPr>
        <a:xfrm>
          <a:off x="47738" y="0"/>
          <a:ext cx="2233958" cy="1447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Entrada processo manual</a:t>
          </a:r>
        </a:p>
      </dsp:txBody>
      <dsp:txXfrm>
        <a:off x="79526" y="31788"/>
        <a:ext cx="1500195" cy="1021748"/>
      </dsp:txXfrm>
    </dsp:sp>
    <dsp:sp modelId="{93447E2E-FA3D-4D63-959F-3347757DF8E3}">
      <dsp:nvSpPr>
        <dsp:cNvPr id="0" name=""/>
        <dsp:cNvSpPr/>
      </dsp:nvSpPr>
      <dsp:spPr>
        <a:xfrm>
          <a:off x="983830" y="257764"/>
          <a:ext cx="1958105" cy="195810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PESSOAS</a:t>
          </a:r>
          <a:r>
            <a:rPr lang="pt-BR" sz="1100" kern="1200" dirty="0"/>
            <a:t>	</a:t>
          </a:r>
        </a:p>
      </dsp:txBody>
      <dsp:txXfrm>
        <a:off x="1557346" y="831280"/>
        <a:ext cx="1384589" cy="1384589"/>
      </dsp:txXfrm>
    </dsp:sp>
    <dsp:sp modelId="{42E959F1-205E-4A66-9657-44E38CED3ADC}">
      <dsp:nvSpPr>
        <dsp:cNvPr id="0" name=""/>
        <dsp:cNvSpPr/>
      </dsp:nvSpPr>
      <dsp:spPr>
        <a:xfrm rot="5400000">
          <a:off x="3032379" y="257764"/>
          <a:ext cx="1958105" cy="195810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SISTEMAS</a:t>
          </a:r>
          <a:endParaRPr lang="pt-BR" sz="1600" b="1" kern="1200" dirty="0"/>
        </a:p>
      </dsp:txBody>
      <dsp:txXfrm rot="-5400000">
        <a:off x="3032379" y="831280"/>
        <a:ext cx="1384589" cy="1384589"/>
      </dsp:txXfrm>
    </dsp:sp>
    <dsp:sp modelId="{580E63A7-7D19-4B40-9341-3B352D521712}">
      <dsp:nvSpPr>
        <dsp:cNvPr id="0" name=""/>
        <dsp:cNvSpPr/>
      </dsp:nvSpPr>
      <dsp:spPr>
        <a:xfrm rot="10800000">
          <a:off x="3032379" y="2306313"/>
          <a:ext cx="1958105" cy="195810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PROCESSO/PESSOAS</a:t>
          </a:r>
        </a:p>
      </dsp:txBody>
      <dsp:txXfrm rot="10800000">
        <a:off x="3032379" y="2306313"/>
        <a:ext cx="1384589" cy="1384589"/>
      </dsp:txXfrm>
    </dsp:sp>
    <dsp:sp modelId="{A9D014C2-166A-4CFC-BE9B-A2AC3BFD2F6E}">
      <dsp:nvSpPr>
        <dsp:cNvPr id="0" name=""/>
        <dsp:cNvSpPr/>
      </dsp:nvSpPr>
      <dsp:spPr>
        <a:xfrm rot="16200000">
          <a:off x="983830" y="2306313"/>
          <a:ext cx="1958105" cy="1958105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PROCESSO/PESSOAS</a:t>
          </a:r>
        </a:p>
      </dsp:txBody>
      <dsp:txXfrm rot="5400000">
        <a:off x="1557346" y="2306313"/>
        <a:ext cx="1384589" cy="1384589"/>
      </dsp:txXfrm>
    </dsp:sp>
    <dsp:sp modelId="{A32D62CD-7F96-4354-B1F7-AD53529E007E}">
      <dsp:nvSpPr>
        <dsp:cNvPr id="0" name=""/>
        <dsp:cNvSpPr/>
      </dsp:nvSpPr>
      <dsp:spPr>
        <a:xfrm>
          <a:off x="2649124" y="1854095"/>
          <a:ext cx="676066" cy="58788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1E35D-FC8A-404B-A8E7-96BC316666AD}">
      <dsp:nvSpPr>
        <dsp:cNvPr id="0" name=""/>
        <dsp:cNvSpPr/>
      </dsp:nvSpPr>
      <dsp:spPr>
        <a:xfrm rot="10800000">
          <a:off x="2649124" y="2080204"/>
          <a:ext cx="676066" cy="58788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92764-32D7-4634-8882-CBA8E7501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1A60B1-D9B8-47F2-BD22-E1BF5D2D1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99E20-20B3-48D9-8BB8-721A448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37F608-6C2F-42B5-AA1E-D820B87B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DCC26-1369-4E03-A926-30C58A3D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57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DA231-AE32-42A2-9908-CA74C386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EDD581-FA11-459D-86A0-5A943C109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A85140-8276-4BD4-8519-8046EF58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9521-EDB0-4E27-86F6-F71FDCFD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54A63-85C0-4655-BF75-2592A8F3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68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B933B-7359-4209-8E30-A2CD63DD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806D3F-B6AD-4885-9A69-C2BC0BCEC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F2E2DD-CA9B-492E-9EBE-149DA620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8B125A-68C6-4FD8-96D2-8A4615C9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D3193F-4EA9-4181-92F2-426204F2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29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A20B7-463F-43B4-8ABA-FD775F29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4D5999-4F4D-4E07-8347-4AE2EA1A8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AC5C6B-7644-433C-BDEC-399F4F351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8579F4-0F52-48A8-AF44-4652D919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038F0C-6DC7-455A-A302-6828DA2D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880A9D-84C9-47D0-9457-DC0250E2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47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10AC7-DA69-41AD-B724-F3405FD78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D56CE0-57F9-4BB6-BA25-352ED978F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85ADA3-1995-4967-913C-C413D171B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2F748E6-DDE1-47D0-9BA8-3255ED1C2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42FE59-4CA0-4098-A1AE-3C168DB10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ED1851-309D-413E-8822-A00AC7A6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11C598-E048-411C-A9FD-3C3BFA20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A163C0-EB12-4EC9-8FD3-0C527E26D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638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F4EC7-2425-4B10-AA73-34199990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7E8945-12C9-4ED4-8C54-68DC2A6B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6F7D2F-6B3D-4698-B5B8-B217E459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D1CA42-0AD8-42C4-AB5A-200ABFF2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298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918FB1-745F-435F-A95D-D87291EFC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66D7F1-28D7-4183-955D-94458275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96E831-AB4A-4518-9DAA-8A3F090F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94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E2892-DEC8-4553-A646-B9892628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7B50D-C3C8-4B2E-8803-4DD1F48F2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72C48B-55FF-4C5A-9D84-9CE1450FD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0B234F-72EC-47B7-A0B1-5378483C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2D1776-CB6F-4222-84CB-3236EF7C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A8D7C6-567F-4402-ACBA-FF92D96E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36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992C7-3A2F-484E-B0A9-BE9BB90D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2AB472-4950-45FC-BDC7-AFA5F6E89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F096CE-CB9F-4389-B74D-89D6C6C57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2E984F-99CD-4212-9BBA-A1448542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E31032-1F24-4C74-9AF5-96EC760B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B3E338-EFFF-4C00-A999-B03FF77B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485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161A-CC0C-4743-BA71-17BD448F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64A10C-00CB-4546-A239-DB6A55EE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85BE0B-618E-4990-8DED-C5906A63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E7205-4224-412E-8063-B6327ED9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189CC-CD24-47CF-8EFD-85706A0E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63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77D9BD-64CF-4280-A8A4-3A854B566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CAC1F4-9FEC-4991-A62C-B34B26C2F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ECBEE-7B08-4643-98B6-F45D632D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80223F-8BA4-40AD-9227-887EC3BE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CAFF03-B764-4607-A288-F845BE52C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61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6C4636-DAB7-48F8-80C3-A807A8C8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B94565-EDDF-4B42-8339-5C6B8BE66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6CFF90-1749-4C00-A175-4ABD0D644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847CD-545C-4E9D-AC06-33349D131D48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6924CE-FFA8-4BC1-B940-A62BBA9B3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45D22B-34BE-4079-9A6A-EE7C169F1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C37EC-098D-491A-8A9A-3CE3139CB6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48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Relationship Id="rId1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5">
            <a:extLst>
              <a:ext uri="{FF2B5EF4-FFF2-40B4-BE49-F238E27FC236}">
                <a16:creationId xmlns:a16="http://schemas.microsoft.com/office/drawing/2014/main" id="{E000528D-5B88-4FA6-AC38-1EE588B73127}"/>
              </a:ext>
            </a:extLst>
          </p:cNvPr>
          <p:cNvSpPr txBox="1"/>
          <p:nvPr/>
        </p:nvSpPr>
        <p:spPr>
          <a:xfrm>
            <a:off x="5386943" y="2831917"/>
            <a:ext cx="6465711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6"/>
              </a:lnSpc>
            </a:pPr>
            <a:r>
              <a:rPr lang="en-US" sz="1600" dirty="0">
                <a:solidFill>
                  <a:srgbClr val="1164A3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ANDRÉ LUIZ FONSECA SILVA</a:t>
            </a:r>
          </a:p>
        </p:txBody>
      </p:sp>
      <p:sp>
        <p:nvSpPr>
          <p:cNvPr id="3" name="TextBox 56">
            <a:extLst>
              <a:ext uri="{FF2B5EF4-FFF2-40B4-BE49-F238E27FC236}">
                <a16:creationId xmlns:a16="http://schemas.microsoft.com/office/drawing/2014/main" id="{D8E60FCC-FC34-43CE-9476-3160CDEF6EA2}"/>
              </a:ext>
            </a:extLst>
          </p:cNvPr>
          <p:cNvSpPr txBox="1"/>
          <p:nvPr/>
        </p:nvSpPr>
        <p:spPr>
          <a:xfrm>
            <a:off x="5174292" y="2670783"/>
            <a:ext cx="6063423" cy="32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6"/>
              </a:lnSpc>
            </a:pPr>
            <a:r>
              <a:rPr lang="en-US" sz="2133" b="1" dirty="0">
                <a:solidFill>
                  <a:srgbClr val="4E4E4E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ANALISTA DE NEGÓCIOS SR</a:t>
            </a:r>
          </a:p>
        </p:txBody>
      </p:sp>
      <p:sp>
        <p:nvSpPr>
          <p:cNvPr id="4" name="Freeform 47">
            <a:extLst>
              <a:ext uri="{FF2B5EF4-FFF2-40B4-BE49-F238E27FC236}">
                <a16:creationId xmlns:a16="http://schemas.microsoft.com/office/drawing/2014/main" id="{B13B52BA-DB90-4D4E-86CD-8CFB2BBFE443}"/>
              </a:ext>
            </a:extLst>
          </p:cNvPr>
          <p:cNvSpPr/>
          <p:nvPr/>
        </p:nvSpPr>
        <p:spPr>
          <a:xfrm>
            <a:off x="296283" y="1"/>
            <a:ext cx="277875" cy="935664"/>
          </a:xfrm>
          <a:custGeom>
            <a:avLst/>
            <a:gdLst/>
            <a:ahLst/>
            <a:cxnLst/>
            <a:rect l="l" t="t" r="r" b="b"/>
            <a:pathLst>
              <a:path w="528118" h="2472965">
                <a:moveTo>
                  <a:pt x="0" y="0"/>
                </a:moveTo>
                <a:lnTo>
                  <a:pt x="528118" y="0"/>
                </a:lnTo>
                <a:lnTo>
                  <a:pt x="528118" y="2472965"/>
                </a:lnTo>
                <a:lnTo>
                  <a:pt x="0" y="2472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pt-BR" sz="1200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48A1B95F-7E8B-495A-890F-2974152B62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2314" y="2583201"/>
            <a:ext cx="2329959" cy="1011674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61A8736A-111B-4AB7-844E-88583A1070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794" y="6149213"/>
            <a:ext cx="1509823" cy="6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7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940D3670-DBA8-4329-8262-206168847BE7}"/>
              </a:ext>
            </a:extLst>
          </p:cNvPr>
          <p:cNvGrpSpPr/>
          <p:nvPr/>
        </p:nvGrpSpPr>
        <p:grpSpPr>
          <a:xfrm>
            <a:off x="-2" y="-1"/>
            <a:ext cx="12192003" cy="6858001"/>
            <a:chOff x="-2" y="-1"/>
            <a:chExt cx="12192003" cy="6858001"/>
          </a:xfrm>
        </p:grpSpPr>
        <p:sp>
          <p:nvSpPr>
            <p:cNvPr id="259" name="CaixaDeTexto 258"/>
            <p:cNvSpPr txBox="1"/>
            <p:nvPr/>
          </p:nvSpPr>
          <p:spPr>
            <a:xfrm>
              <a:off x="6153075" y="3280620"/>
              <a:ext cx="7543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/>
                <a:t>Sistema A</a:t>
              </a:r>
            </a:p>
          </p:txBody>
        </p:sp>
        <p:sp>
          <p:nvSpPr>
            <p:cNvPr id="110" name="Retângulo 109"/>
            <p:cNvSpPr/>
            <p:nvPr/>
          </p:nvSpPr>
          <p:spPr>
            <a:xfrm rot="5400000">
              <a:off x="5905498" y="-5905500"/>
              <a:ext cx="381002" cy="1219200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b="1" dirty="0">
                  <a:latin typeface="Arial" panose="020B0604020202020204" pitchFamily="34" charset="0"/>
                  <a:cs typeface="Arial" panose="020B0604020202020204" pitchFamily="34" charset="0"/>
                </a:rPr>
                <a:t>Macro Fluxograma: AS IS - </a:t>
              </a:r>
              <a:r>
                <a:rPr lang="pt-B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Realizar Agendamento </a:t>
              </a:r>
            </a:p>
          </p:txBody>
        </p:sp>
        <p:sp>
          <p:nvSpPr>
            <p:cNvPr id="39" name="Fluxograma: Conector 38"/>
            <p:cNvSpPr/>
            <p:nvPr/>
          </p:nvSpPr>
          <p:spPr>
            <a:xfrm>
              <a:off x="1317929" y="1041523"/>
              <a:ext cx="380856" cy="380856"/>
            </a:xfrm>
            <a:prstGeom prst="flowChartConnector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1094362" y="1460399"/>
              <a:ext cx="805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Necessidade Agendar Consulta Média</a:t>
              </a:r>
            </a:p>
          </p:txBody>
        </p:sp>
        <p:sp>
          <p:nvSpPr>
            <p:cNvPr id="41" name="Retângulo 40"/>
            <p:cNvSpPr/>
            <p:nvPr/>
          </p:nvSpPr>
          <p:spPr>
            <a:xfrm>
              <a:off x="548439" y="381001"/>
              <a:ext cx="11643561" cy="6476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41"/>
            <p:cNvSpPr/>
            <p:nvPr/>
          </p:nvSpPr>
          <p:spPr>
            <a:xfrm>
              <a:off x="481416" y="381003"/>
              <a:ext cx="381000" cy="17030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pt-B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endParaRPr lang="pt-BR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862417" y="381003"/>
              <a:ext cx="11329584" cy="17030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44" name="Rosca 43"/>
            <p:cNvSpPr/>
            <p:nvPr/>
          </p:nvSpPr>
          <p:spPr>
            <a:xfrm>
              <a:off x="11212779" y="1183521"/>
              <a:ext cx="361854" cy="361854"/>
            </a:xfrm>
            <a:prstGeom prst="donut">
              <a:avLst>
                <a:gd name="adj" fmla="val 62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10946601" y="1572502"/>
              <a:ext cx="894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Agendamento Realizado</a:t>
              </a:r>
            </a:p>
          </p:txBody>
        </p:sp>
        <p:sp>
          <p:nvSpPr>
            <p:cNvPr id="48" name="Retângulo 47"/>
            <p:cNvSpPr/>
            <p:nvPr/>
          </p:nvSpPr>
          <p:spPr>
            <a:xfrm>
              <a:off x="508072" y="2084051"/>
              <a:ext cx="349934" cy="47739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pt-B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Atendimento</a:t>
              </a:r>
              <a:endParaRPr lang="pt-BR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tângulo 48"/>
            <p:cNvSpPr/>
            <p:nvPr/>
          </p:nvSpPr>
          <p:spPr>
            <a:xfrm>
              <a:off x="862410" y="2084053"/>
              <a:ext cx="11329590" cy="47739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endParaRPr lang="pt-BR" sz="1000" dirty="0"/>
            </a:p>
          </p:txBody>
        </p:sp>
        <p:sp>
          <p:nvSpPr>
            <p:cNvPr id="45" name="Retângulo 44"/>
            <p:cNvSpPr/>
            <p:nvPr/>
          </p:nvSpPr>
          <p:spPr>
            <a:xfrm>
              <a:off x="0" y="381003"/>
              <a:ext cx="521783" cy="647699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Unimed Uberlândia</a:t>
              </a:r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0" y="-1"/>
              <a:ext cx="40580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 IS:</a:t>
              </a:r>
            </a:p>
          </p:txBody>
        </p:sp>
        <p:sp>
          <p:nvSpPr>
            <p:cNvPr id="65" name="Fluxograma: Decisão 64">
              <a:extLst>
                <a:ext uri="{FF2B5EF4-FFF2-40B4-BE49-F238E27FC236}">
                  <a16:creationId xmlns:a16="http://schemas.microsoft.com/office/drawing/2014/main" id="{8B8F91AF-1B18-4ABD-A2EA-D6B782800AB4}"/>
                </a:ext>
              </a:extLst>
            </p:cNvPr>
            <p:cNvSpPr/>
            <p:nvPr/>
          </p:nvSpPr>
          <p:spPr>
            <a:xfrm>
              <a:off x="5858584" y="3827565"/>
              <a:ext cx="838200" cy="561594"/>
            </a:xfrm>
            <a:prstGeom prst="flowChartDecis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sp>
          <p:nvSpPr>
            <p:cNvPr id="68" name="Retângulo de cantos arredondados 71">
              <a:extLst>
                <a:ext uri="{FF2B5EF4-FFF2-40B4-BE49-F238E27FC236}">
                  <a16:creationId xmlns:a16="http://schemas.microsoft.com/office/drawing/2014/main" id="{A8BAB0CC-F2F3-4691-81F9-288C69CBBCBF}"/>
                </a:ext>
              </a:extLst>
            </p:cNvPr>
            <p:cNvSpPr/>
            <p:nvPr/>
          </p:nvSpPr>
          <p:spPr>
            <a:xfrm>
              <a:off x="2994204" y="3842500"/>
              <a:ext cx="1004812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Analisar conferir informações nos dois sistemas </a:t>
              </a:r>
            </a:p>
          </p:txBody>
        </p:sp>
        <p:cxnSp>
          <p:nvCxnSpPr>
            <p:cNvPr id="70" name="Conector angulado 225">
              <a:extLst>
                <a:ext uri="{FF2B5EF4-FFF2-40B4-BE49-F238E27FC236}">
                  <a16:creationId xmlns:a16="http://schemas.microsoft.com/office/drawing/2014/main" id="{AE56AC15-EAEC-4D43-AD81-2586B239D174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 rot="5400000" flipH="1" flipV="1">
              <a:off x="6639437" y="3133840"/>
              <a:ext cx="331972" cy="1055479"/>
            </a:xfrm>
            <a:prstGeom prst="bent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angulado 225">
              <a:extLst>
                <a:ext uri="{FF2B5EF4-FFF2-40B4-BE49-F238E27FC236}">
                  <a16:creationId xmlns:a16="http://schemas.microsoft.com/office/drawing/2014/main" id="{5C51CCB6-E1DE-466C-8AC9-720BC688A3E3}"/>
                </a:ext>
              </a:extLst>
            </p:cNvPr>
            <p:cNvCxnSpPr>
              <a:cxnSpLocks/>
              <a:stCxn id="91" idx="3"/>
              <a:endCxn id="78" idx="1"/>
            </p:cNvCxnSpPr>
            <p:nvPr/>
          </p:nvCxnSpPr>
          <p:spPr>
            <a:xfrm flipH="1">
              <a:off x="1532011" y="1229180"/>
              <a:ext cx="1573456" cy="2878368"/>
            </a:xfrm>
            <a:prstGeom prst="bentConnector5">
              <a:avLst>
                <a:gd name="adj1" fmla="val -14529"/>
                <a:gd name="adj2" fmla="val 50000"/>
                <a:gd name="adj3" fmla="val 114529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DA605283-50F6-43C4-AC3F-57BF692DFB14}"/>
                </a:ext>
              </a:extLst>
            </p:cNvPr>
            <p:cNvSpPr txBox="1"/>
            <p:nvPr/>
          </p:nvSpPr>
          <p:spPr>
            <a:xfrm>
              <a:off x="6226559" y="4604445"/>
              <a:ext cx="75438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/>
                <a:t>Sistema B </a:t>
              </a:r>
            </a:p>
          </p:txBody>
        </p:sp>
        <p:cxnSp>
          <p:nvCxnSpPr>
            <p:cNvPr id="76" name="Conector angulado 225">
              <a:extLst>
                <a:ext uri="{FF2B5EF4-FFF2-40B4-BE49-F238E27FC236}">
                  <a16:creationId xmlns:a16="http://schemas.microsoft.com/office/drawing/2014/main" id="{97D3C510-A2C4-4C37-BE4B-C4B2F0D1772A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rot="16200000" flipH="1">
              <a:off x="6607358" y="4059485"/>
              <a:ext cx="444318" cy="1103666"/>
            </a:xfrm>
            <a:prstGeom prst="bent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tângulo de cantos arredondados 71">
              <a:extLst>
                <a:ext uri="{FF2B5EF4-FFF2-40B4-BE49-F238E27FC236}">
                  <a16:creationId xmlns:a16="http://schemas.microsoft.com/office/drawing/2014/main" id="{5DD98B44-E7C4-445E-9794-4CB1BC40E04C}"/>
                </a:ext>
              </a:extLst>
            </p:cNvPr>
            <p:cNvSpPr/>
            <p:nvPr/>
          </p:nvSpPr>
          <p:spPr>
            <a:xfrm>
              <a:off x="1532011" y="3840848"/>
              <a:ext cx="1004812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Identificar especialidade / Clínica solicitada</a:t>
              </a:r>
            </a:p>
          </p:txBody>
        </p:sp>
        <p:sp>
          <p:nvSpPr>
            <p:cNvPr id="80" name="Retângulo de cantos arredondados 71">
              <a:extLst>
                <a:ext uri="{FF2B5EF4-FFF2-40B4-BE49-F238E27FC236}">
                  <a16:creationId xmlns:a16="http://schemas.microsoft.com/office/drawing/2014/main" id="{892093D5-0A27-44BF-B433-872E29E1DEBD}"/>
                </a:ext>
              </a:extLst>
            </p:cNvPr>
            <p:cNvSpPr/>
            <p:nvPr/>
          </p:nvSpPr>
          <p:spPr>
            <a:xfrm>
              <a:off x="4352751" y="3839857"/>
              <a:ext cx="1004812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Identificar em qual sistema seguir com agendamento</a:t>
              </a:r>
            </a:p>
          </p:txBody>
        </p:sp>
        <p:sp>
          <p:nvSpPr>
            <p:cNvPr id="83" name="Retângulo de cantos arredondados 71">
              <a:extLst>
                <a:ext uri="{FF2B5EF4-FFF2-40B4-BE49-F238E27FC236}">
                  <a16:creationId xmlns:a16="http://schemas.microsoft.com/office/drawing/2014/main" id="{FE7C5528-377C-4536-BCBC-8380B41942D3}"/>
                </a:ext>
              </a:extLst>
            </p:cNvPr>
            <p:cNvSpPr/>
            <p:nvPr/>
          </p:nvSpPr>
          <p:spPr>
            <a:xfrm>
              <a:off x="6996646" y="3233202"/>
              <a:ext cx="1004812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Realizar o agendamento 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D3BD0CC-078E-42AC-A624-22D8AFD1886C}"/>
                </a:ext>
              </a:extLst>
            </p:cNvPr>
            <p:cNvSpPr txBox="1"/>
            <p:nvPr/>
          </p:nvSpPr>
          <p:spPr>
            <a:xfrm>
              <a:off x="2994204" y="4407807"/>
              <a:ext cx="1004812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A Especialidade desejada pode estar em clínicas que usam sistemas distintos.</a:t>
              </a: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667EDECB-2494-4547-8F84-0046FE8C1AF3}"/>
                </a:ext>
              </a:extLst>
            </p:cNvPr>
            <p:cNvSpPr txBox="1"/>
            <p:nvPr/>
          </p:nvSpPr>
          <p:spPr>
            <a:xfrm>
              <a:off x="4367019" y="4417259"/>
              <a:ext cx="1004812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Conferir disponibilidade nos dois sistemas, verificação.</a:t>
              </a:r>
            </a:p>
          </p:txBody>
        </p:sp>
        <p:sp>
          <p:nvSpPr>
            <p:cNvPr id="86" name="Retângulo de cantos arredondados 71">
              <a:extLst>
                <a:ext uri="{FF2B5EF4-FFF2-40B4-BE49-F238E27FC236}">
                  <a16:creationId xmlns:a16="http://schemas.microsoft.com/office/drawing/2014/main" id="{0667905A-F5C9-4580-BEF5-B859C41D9A8F}"/>
                </a:ext>
              </a:extLst>
            </p:cNvPr>
            <p:cNvSpPr/>
            <p:nvPr/>
          </p:nvSpPr>
          <p:spPr>
            <a:xfrm>
              <a:off x="7040146" y="4551057"/>
              <a:ext cx="1004812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Realizar o agendamento </a:t>
              </a:r>
            </a:p>
          </p:txBody>
        </p:sp>
        <p:sp>
          <p:nvSpPr>
            <p:cNvPr id="88" name="Retângulo de cantos arredondados 71">
              <a:extLst>
                <a:ext uri="{FF2B5EF4-FFF2-40B4-BE49-F238E27FC236}">
                  <a16:creationId xmlns:a16="http://schemas.microsoft.com/office/drawing/2014/main" id="{01DAD27C-604D-42F4-851C-53BADD7BC445}"/>
                </a:ext>
              </a:extLst>
            </p:cNvPr>
            <p:cNvSpPr/>
            <p:nvPr/>
          </p:nvSpPr>
          <p:spPr>
            <a:xfrm>
              <a:off x="8260513" y="3896063"/>
              <a:ext cx="1004812" cy="5334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Retornar ao cliente </a:t>
              </a:r>
            </a:p>
          </p:txBody>
        </p:sp>
        <p:cxnSp>
          <p:nvCxnSpPr>
            <p:cNvPr id="89" name="Conector angulado 225">
              <a:extLst>
                <a:ext uri="{FF2B5EF4-FFF2-40B4-BE49-F238E27FC236}">
                  <a16:creationId xmlns:a16="http://schemas.microsoft.com/office/drawing/2014/main" id="{01D5905D-68CC-42B4-85C9-FF121B9665E1}"/>
                </a:ext>
              </a:extLst>
            </p:cNvPr>
            <p:cNvCxnSpPr>
              <a:cxnSpLocks/>
              <a:stCxn id="88" idx="3"/>
              <a:endCxn id="114" idx="1"/>
            </p:cNvCxnSpPr>
            <p:nvPr/>
          </p:nvCxnSpPr>
          <p:spPr>
            <a:xfrm flipV="1">
              <a:off x="9265325" y="1368024"/>
              <a:ext cx="526147" cy="2794739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tângulo de cantos arredondados 71">
              <a:extLst>
                <a:ext uri="{FF2B5EF4-FFF2-40B4-BE49-F238E27FC236}">
                  <a16:creationId xmlns:a16="http://schemas.microsoft.com/office/drawing/2014/main" id="{BD347061-B958-4E61-A38F-D7FC69514017}"/>
                </a:ext>
              </a:extLst>
            </p:cNvPr>
            <p:cNvSpPr/>
            <p:nvPr/>
          </p:nvSpPr>
          <p:spPr>
            <a:xfrm>
              <a:off x="2100655" y="962480"/>
              <a:ext cx="1004812" cy="5334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Ligar no atendimento.</a:t>
              </a:r>
            </a:p>
          </p:txBody>
        </p:sp>
        <p:cxnSp>
          <p:nvCxnSpPr>
            <p:cNvPr id="95" name="Conector angulado 225">
              <a:extLst>
                <a:ext uri="{FF2B5EF4-FFF2-40B4-BE49-F238E27FC236}">
                  <a16:creationId xmlns:a16="http://schemas.microsoft.com/office/drawing/2014/main" id="{0663BCF6-B08D-40D1-83AF-E7AB39DC6F2A}"/>
                </a:ext>
              </a:extLst>
            </p:cNvPr>
            <p:cNvCxnSpPr>
              <a:cxnSpLocks/>
              <a:stCxn id="78" idx="3"/>
              <a:endCxn id="68" idx="1"/>
            </p:cNvCxnSpPr>
            <p:nvPr/>
          </p:nvCxnSpPr>
          <p:spPr>
            <a:xfrm>
              <a:off x="2536823" y="4107548"/>
              <a:ext cx="457381" cy="1652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angulado 225">
              <a:extLst>
                <a:ext uri="{FF2B5EF4-FFF2-40B4-BE49-F238E27FC236}">
                  <a16:creationId xmlns:a16="http://schemas.microsoft.com/office/drawing/2014/main" id="{7C00F671-4249-417B-BF9A-107E7F40929C}"/>
                </a:ext>
              </a:extLst>
            </p:cNvPr>
            <p:cNvCxnSpPr>
              <a:cxnSpLocks/>
              <a:stCxn id="68" idx="3"/>
              <a:endCxn id="80" idx="1"/>
            </p:cNvCxnSpPr>
            <p:nvPr/>
          </p:nvCxnSpPr>
          <p:spPr>
            <a:xfrm flipV="1">
              <a:off x="3999016" y="4106557"/>
              <a:ext cx="353735" cy="2643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125DA1A8-EFA2-401C-BAF3-2D26BB2C9D39}"/>
                </a:ext>
              </a:extLst>
            </p:cNvPr>
            <p:cNvSpPr txBox="1"/>
            <p:nvPr/>
          </p:nvSpPr>
          <p:spPr>
            <a:xfrm>
              <a:off x="1542572" y="4407807"/>
              <a:ext cx="1004812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800" dirty="0"/>
                <a:t>Verificar em qual ou quais sistemas está a clínica da especialidade solicitada.</a:t>
              </a:r>
            </a:p>
          </p:txBody>
        </p:sp>
        <p:cxnSp>
          <p:nvCxnSpPr>
            <p:cNvPr id="104" name="Conector angulado 225">
              <a:extLst>
                <a:ext uri="{FF2B5EF4-FFF2-40B4-BE49-F238E27FC236}">
                  <a16:creationId xmlns:a16="http://schemas.microsoft.com/office/drawing/2014/main" id="{2ED46034-9C2C-4314-A04B-4FFEEA6FCD3F}"/>
                </a:ext>
              </a:extLst>
            </p:cNvPr>
            <p:cNvCxnSpPr>
              <a:cxnSpLocks/>
              <a:stCxn id="80" idx="3"/>
              <a:endCxn id="65" idx="1"/>
            </p:cNvCxnSpPr>
            <p:nvPr/>
          </p:nvCxnSpPr>
          <p:spPr>
            <a:xfrm>
              <a:off x="5357563" y="4106557"/>
              <a:ext cx="501021" cy="1805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angulado 225">
              <a:extLst>
                <a:ext uri="{FF2B5EF4-FFF2-40B4-BE49-F238E27FC236}">
                  <a16:creationId xmlns:a16="http://schemas.microsoft.com/office/drawing/2014/main" id="{0BA6D40F-169B-4B0B-BF24-D629547297D4}"/>
                </a:ext>
              </a:extLst>
            </p:cNvPr>
            <p:cNvCxnSpPr>
              <a:cxnSpLocks/>
              <a:stCxn id="83" idx="3"/>
              <a:endCxn id="88" idx="0"/>
            </p:cNvCxnSpPr>
            <p:nvPr/>
          </p:nvCxnSpPr>
          <p:spPr>
            <a:xfrm>
              <a:off x="8001458" y="3499902"/>
              <a:ext cx="761461" cy="396161"/>
            </a:xfrm>
            <a:prstGeom prst="bent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angulado 225">
              <a:extLst>
                <a:ext uri="{FF2B5EF4-FFF2-40B4-BE49-F238E27FC236}">
                  <a16:creationId xmlns:a16="http://schemas.microsoft.com/office/drawing/2014/main" id="{A9F17A5E-6ED1-4CFE-B05F-6977BCD7C882}"/>
                </a:ext>
              </a:extLst>
            </p:cNvPr>
            <p:cNvCxnSpPr>
              <a:cxnSpLocks/>
              <a:stCxn id="86" idx="3"/>
              <a:endCxn id="88" idx="2"/>
            </p:cNvCxnSpPr>
            <p:nvPr/>
          </p:nvCxnSpPr>
          <p:spPr>
            <a:xfrm flipV="1">
              <a:off x="8044958" y="4429463"/>
              <a:ext cx="717961" cy="388294"/>
            </a:xfrm>
            <a:prstGeom prst="bent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tângulo de cantos arredondados 71">
              <a:extLst>
                <a:ext uri="{FF2B5EF4-FFF2-40B4-BE49-F238E27FC236}">
                  <a16:creationId xmlns:a16="http://schemas.microsoft.com/office/drawing/2014/main" id="{3776EDE7-7D60-470C-A09D-E1A7E812F270}"/>
                </a:ext>
              </a:extLst>
            </p:cNvPr>
            <p:cNvSpPr/>
            <p:nvPr/>
          </p:nvSpPr>
          <p:spPr>
            <a:xfrm>
              <a:off x="9791472" y="1101324"/>
              <a:ext cx="1004812" cy="5334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Receber conformação do agendamento</a:t>
              </a:r>
            </a:p>
          </p:txBody>
        </p:sp>
        <p:cxnSp>
          <p:nvCxnSpPr>
            <p:cNvPr id="119" name="Conector angulado 225">
              <a:extLst>
                <a:ext uri="{FF2B5EF4-FFF2-40B4-BE49-F238E27FC236}">
                  <a16:creationId xmlns:a16="http://schemas.microsoft.com/office/drawing/2014/main" id="{1BD69E1C-E83D-4FA7-8D15-C047F9B50BD2}"/>
                </a:ext>
              </a:extLst>
            </p:cNvPr>
            <p:cNvCxnSpPr>
              <a:cxnSpLocks/>
              <a:stCxn id="114" idx="3"/>
              <a:endCxn id="44" idx="2"/>
            </p:cNvCxnSpPr>
            <p:nvPr/>
          </p:nvCxnSpPr>
          <p:spPr>
            <a:xfrm flipV="1">
              <a:off x="10796284" y="1364448"/>
              <a:ext cx="416495" cy="3576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angulado 225">
              <a:extLst>
                <a:ext uri="{FF2B5EF4-FFF2-40B4-BE49-F238E27FC236}">
                  <a16:creationId xmlns:a16="http://schemas.microsoft.com/office/drawing/2014/main" id="{EDB4C349-5042-4D31-B140-2D1EF2A7C236}"/>
                </a:ext>
              </a:extLst>
            </p:cNvPr>
            <p:cNvCxnSpPr>
              <a:cxnSpLocks/>
              <a:stCxn id="39" idx="6"/>
              <a:endCxn id="91" idx="1"/>
            </p:cNvCxnSpPr>
            <p:nvPr/>
          </p:nvCxnSpPr>
          <p:spPr>
            <a:xfrm flipV="1">
              <a:off x="1698785" y="1229180"/>
              <a:ext cx="401870" cy="2771"/>
            </a:xfrm>
            <a:prstGeom prst="bent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Image 1">
            <a:extLst>
              <a:ext uri="{FF2B5EF4-FFF2-40B4-BE49-F238E27FC236}">
                <a16:creationId xmlns:a16="http://schemas.microsoft.com/office/drawing/2014/main" id="{F9B06B9B-ECE9-40FA-9B7A-00E295A4A4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794" y="6149213"/>
            <a:ext cx="1509823" cy="6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0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35E1-51DD-A13D-2421-6737C7B4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5">
            <a:extLst>
              <a:ext uri="{FF2B5EF4-FFF2-40B4-BE49-F238E27FC236}">
                <a16:creationId xmlns:a16="http://schemas.microsoft.com/office/drawing/2014/main" id="{BCD4E5E8-33F2-38C1-3F5B-024C4E46ED46}"/>
              </a:ext>
            </a:extLst>
          </p:cNvPr>
          <p:cNvSpPr txBox="1"/>
          <p:nvPr/>
        </p:nvSpPr>
        <p:spPr>
          <a:xfrm>
            <a:off x="804310" y="290735"/>
            <a:ext cx="6465711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6"/>
              </a:lnSpc>
            </a:pPr>
            <a:r>
              <a:rPr lang="en-US" sz="1500" dirty="0">
                <a:solidFill>
                  <a:srgbClr val="1164A3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PONTOS DE DOR – OPORTUNIDADES DE MELHORIAS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FE0481DA-D566-E994-F20F-9354607CB1E1}"/>
              </a:ext>
            </a:extLst>
          </p:cNvPr>
          <p:cNvSpPr txBox="1"/>
          <p:nvPr/>
        </p:nvSpPr>
        <p:spPr>
          <a:xfrm>
            <a:off x="804310" y="167122"/>
            <a:ext cx="6063423" cy="32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6"/>
              </a:lnSpc>
            </a:pPr>
            <a:r>
              <a:rPr lang="en-US" sz="2133" b="1" dirty="0">
                <a:solidFill>
                  <a:srgbClr val="4E4E4E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DIAGNÓSTICO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6C80F96E-F0F3-44B7-BB66-4C6A2D039F3C}"/>
              </a:ext>
            </a:extLst>
          </p:cNvPr>
          <p:cNvSpPr txBox="1"/>
          <p:nvPr/>
        </p:nvSpPr>
        <p:spPr>
          <a:xfrm>
            <a:off x="76736" y="6686933"/>
            <a:ext cx="38259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1"/>
              </a:lnSpc>
            </a:pPr>
            <a:r>
              <a:rPr lang="en-US" sz="9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GRUPO ALGAR | TIC | ENTRETENIMENTO | AGRO</a:t>
            </a:r>
          </a:p>
        </p:txBody>
      </p:sp>
      <p:sp>
        <p:nvSpPr>
          <p:cNvPr id="60" name="Freeform 47">
            <a:extLst>
              <a:ext uri="{FF2B5EF4-FFF2-40B4-BE49-F238E27FC236}">
                <a16:creationId xmlns:a16="http://schemas.microsoft.com/office/drawing/2014/main" id="{890168A5-24EF-BE17-4AA2-9E2F6EA32881}"/>
              </a:ext>
            </a:extLst>
          </p:cNvPr>
          <p:cNvSpPr/>
          <p:nvPr/>
        </p:nvSpPr>
        <p:spPr>
          <a:xfrm>
            <a:off x="296283" y="1"/>
            <a:ext cx="277875" cy="935664"/>
          </a:xfrm>
          <a:custGeom>
            <a:avLst/>
            <a:gdLst/>
            <a:ahLst/>
            <a:cxnLst/>
            <a:rect l="l" t="t" r="r" b="b"/>
            <a:pathLst>
              <a:path w="528118" h="2472965">
                <a:moveTo>
                  <a:pt x="0" y="0"/>
                </a:moveTo>
                <a:lnTo>
                  <a:pt x="528118" y="0"/>
                </a:lnTo>
                <a:lnTo>
                  <a:pt x="528118" y="2472965"/>
                </a:lnTo>
                <a:lnTo>
                  <a:pt x="0" y="2472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pt-BR" sz="120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B5F4AAD-FAA0-4440-808F-55DDBA531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585360"/>
              </p:ext>
            </p:extLst>
          </p:nvPr>
        </p:nvGraphicFramePr>
        <p:xfrm>
          <a:off x="296283" y="1252642"/>
          <a:ext cx="5974316" cy="4522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" name="Imagem 36" descr="Uma imagem com Gráficos, design, criatividade&#10;&#10;Os conteúdos gerados pela IA podem estar incorretos.">
            <a:extLst>
              <a:ext uri="{FF2B5EF4-FFF2-40B4-BE49-F238E27FC236}">
                <a16:creationId xmlns:a16="http://schemas.microsoft.com/office/drawing/2014/main" id="{43506A84-9448-40B3-889B-354C774282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315" y="2892531"/>
            <a:ext cx="791029" cy="812800"/>
          </a:xfrm>
          <a:prstGeom prst="rect">
            <a:avLst/>
          </a:prstGeom>
        </p:spPr>
      </p:pic>
      <p:pic>
        <p:nvPicPr>
          <p:cNvPr id="38" name="Imagem 37" descr="Uma imagem com preto, escuridão&#10;&#10;Os conteúdos gerados pela IA podem estar incorretos.">
            <a:extLst>
              <a:ext uri="{FF2B5EF4-FFF2-40B4-BE49-F238E27FC236}">
                <a16:creationId xmlns:a16="http://schemas.microsoft.com/office/drawing/2014/main" id="{9CFC7F5B-EE0E-46EA-9CDB-0E9FEC3274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367" y="3912449"/>
            <a:ext cx="823687" cy="801915"/>
          </a:xfrm>
          <a:prstGeom prst="rect">
            <a:avLst/>
          </a:prstGeom>
        </p:spPr>
      </p:pic>
      <p:pic>
        <p:nvPicPr>
          <p:cNvPr id="39" name="Imagem 38" descr="Uma imagem com Gráficos, clipart, círculo, logótipo&#10;&#10;Os conteúdos gerados pela IA podem estar incorretos.">
            <a:extLst>
              <a:ext uri="{FF2B5EF4-FFF2-40B4-BE49-F238E27FC236}">
                <a16:creationId xmlns:a16="http://schemas.microsoft.com/office/drawing/2014/main" id="{CD976DA8-B082-4C6E-8A36-D95B5ECA9F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864" y="1917103"/>
            <a:ext cx="551544" cy="540658"/>
          </a:xfrm>
          <a:prstGeom prst="rect">
            <a:avLst/>
          </a:prstGeom>
        </p:spPr>
      </p:pic>
      <p:pic>
        <p:nvPicPr>
          <p:cNvPr id="40" name="Imagem 39" descr="Uma imagem com preto, escuridão&#10;&#10;Os conteúdos gerados pela IA podem estar incorretos.">
            <a:extLst>
              <a:ext uri="{FF2B5EF4-FFF2-40B4-BE49-F238E27FC236}">
                <a16:creationId xmlns:a16="http://schemas.microsoft.com/office/drawing/2014/main" id="{708CF80F-E515-440F-A067-4D55F047D1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2144" y="1950250"/>
            <a:ext cx="465184" cy="474365"/>
          </a:xfrm>
          <a:prstGeom prst="rect">
            <a:avLst/>
          </a:prstGeom>
        </p:spPr>
      </p:pic>
      <p:pic>
        <p:nvPicPr>
          <p:cNvPr id="41" name="Imagem 40" descr="Uma imagem com clipart, captura de ecrã, desenho&#10;&#10;Os conteúdos gerados pela IA podem estar incorretos.">
            <a:extLst>
              <a:ext uri="{FF2B5EF4-FFF2-40B4-BE49-F238E27FC236}">
                <a16:creationId xmlns:a16="http://schemas.microsoft.com/office/drawing/2014/main" id="{6A830688-D6D1-4982-BA7F-4FF00512C1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3367" y="2767160"/>
            <a:ext cx="889001" cy="834572"/>
          </a:xfrm>
          <a:prstGeom prst="rect">
            <a:avLst/>
          </a:prstGeom>
        </p:spPr>
      </p:pic>
      <p:pic>
        <p:nvPicPr>
          <p:cNvPr id="42" name="Imagem 41" descr="Uma imagem com captura de ecrã, Gráficos, clipart, design&#10;&#10;Os conteúdos gerados pela IA podem estar incorretos.">
            <a:extLst>
              <a:ext uri="{FF2B5EF4-FFF2-40B4-BE49-F238E27FC236}">
                <a16:creationId xmlns:a16="http://schemas.microsoft.com/office/drawing/2014/main" id="{2382DF06-8388-4255-AE68-181C021FD7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864" y="3935982"/>
            <a:ext cx="662597" cy="671592"/>
          </a:xfrm>
          <a:prstGeom prst="rect">
            <a:avLst/>
          </a:prstGeom>
        </p:spPr>
      </p:pic>
      <p:sp>
        <p:nvSpPr>
          <p:cNvPr id="43" name="Freeform 32" descr="Ícone de Automação Generic Blue">
            <a:extLst>
              <a:ext uri="{FF2B5EF4-FFF2-40B4-BE49-F238E27FC236}">
                <a16:creationId xmlns:a16="http://schemas.microsoft.com/office/drawing/2014/main" id="{203A1480-070A-4F2B-BAE5-38C25CB1D8AB}"/>
              </a:ext>
            </a:extLst>
          </p:cNvPr>
          <p:cNvSpPr/>
          <p:nvPr/>
        </p:nvSpPr>
        <p:spPr>
          <a:xfrm>
            <a:off x="8458864" y="2886935"/>
            <a:ext cx="662597" cy="714797"/>
          </a:xfrm>
          <a:custGeom>
            <a:avLst/>
            <a:gdLst/>
            <a:ahLst/>
            <a:cxnLst/>
            <a:rect l="l" t="t" r="r" b="b"/>
            <a:pathLst>
              <a:path w="761619" h="761619">
                <a:moveTo>
                  <a:pt x="0" y="0"/>
                </a:moveTo>
                <a:lnTo>
                  <a:pt x="761619" y="0"/>
                </a:lnTo>
                <a:lnTo>
                  <a:pt x="761619" y="761618"/>
                </a:lnTo>
                <a:lnTo>
                  <a:pt x="0" y="7616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7FB8C76F-E502-401F-B652-AFEFD77ACA17}"/>
              </a:ext>
            </a:extLst>
          </p:cNvPr>
          <p:cNvSpPr/>
          <p:nvPr/>
        </p:nvSpPr>
        <p:spPr>
          <a:xfrm>
            <a:off x="9532512" y="2012491"/>
            <a:ext cx="2215709" cy="349882"/>
          </a:xfrm>
          <a:custGeom>
            <a:avLst/>
            <a:gdLst/>
            <a:ahLst/>
            <a:cxnLst/>
            <a:rect l="l" t="t" r="r" b="b"/>
            <a:pathLst>
              <a:path w="2916223" h="610623">
                <a:moveTo>
                  <a:pt x="0" y="101681"/>
                </a:moveTo>
                <a:cubicBezTo>
                  <a:pt x="0" y="45600"/>
                  <a:pt x="34459" y="0"/>
                  <a:pt x="76838" y="0"/>
                </a:cubicBezTo>
                <a:lnTo>
                  <a:pt x="2839385" y="0"/>
                </a:lnTo>
                <a:cubicBezTo>
                  <a:pt x="2881903" y="0"/>
                  <a:pt x="2916223" y="45600"/>
                  <a:pt x="2916223" y="101681"/>
                </a:cubicBezTo>
                <a:lnTo>
                  <a:pt x="2916223" y="508773"/>
                </a:lnTo>
                <a:cubicBezTo>
                  <a:pt x="2916223" y="565038"/>
                  <a:pt x="2881764" y="610454"/>
                  <a:pt x="2839385" y="610454"/>
                </a:cubicBezTo>
                <a:lnTo>
                  <a:pt x="76838" y="610454"/>
                </a:lnTo>
                <a:cubicBezTo>
                  <a:pt x="34459" y="610623"/>
                  <a:pt x="0" y="565038"/>
                  <a:pt x="0" y="508773"/>
                </a:cubicBezTo>
                <a:close/>
              </a:path>
            </a:pathLst>
          </a:custGeom>
          <a:solidFill>
            <a:srgbClr val="00B050"/>
          </a:solidFill>
        </p:spPr>
        <p:txBody>
          <a:bodyPr anchor="ctr"/>
          <a:lstStyle/>
          <a:p>
            <a:pPr algn="ctr">
              <a:lnSpc>
                <a:spcPts val="1200"/>
              </a:lnSpc>
            </a:pPr>
            <a:r>
              <a:rPr lang="en-US" sz="1200" b="1" spc="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AUTOMAÇÃO ENTRADA </a:t>
            </a:r>
            <a:endParaRPr lang="en-US" sz="1200" b="1" spc="9" dirty="0">
              <a:solidFill>
                <a:srgbClr val="FFFFFF"/>
              </a:solidFill>
              <a:latin typeface="Exo 2 Bold"/>
              <a:ea typeface="Exo 2 Bold"/>
              <a:cs typeface="Exo 2 Bold"/>
              <a:sym typeface="Exo 2 Bold"/>
            </a:endParaRPr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5ADB33A3-C1C2-4208-B322-5ABF33DC308E}"/>
              </a:ext>
            </a:extLst>
          </p:cNvPr>
          <p:cNvSpPr txBox="1"/>
          <p:nvPr/>
        </p:nvSpPr>
        <p:spPr>
          <a:xfrm>
            <a:off x="9532512" y="2446831"/>
            <a:ext cx="2372407" cy="35640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200"/>
              </a:lnSpc>
            </a:pPr>
            <a:endParaRPr lang="en-US" sz="1000" b="1" spc="9" dirty="0">
              <a:solidFill>
                <a:srgbClr val="FFFFFF"/>
              </a:solidFill>
              <a:latin typeface="Exo 2 Bold"/>
              <a:ea typeface="Exo 2 Bold"/>
              <a:cs typeface="Exo 2 Bold"/>
              <a:sym typeface="Exo 2 Bold"/>
            </a:endParaRPr>
          </a:p>
        </p:txBody>
      </p:sp>
      <p:sp>
        <p:nvSpPr>
          <p:cNvPr id="50" name="TextBox 56">
            <a:extLst>
              <a:ext uri="{FF2B5EF4-FFF2-40B4-BE49-F238E27FC236}">
                <a16:creationId xmlns:a16="http://schemas.microsoft.com/office/drawing/2014/main" id="{5CDDD3E4-EF23-4743-96E6-0C4BA1CF65A5}"/>
              </a:ext>
            </a:extLst>
          </p:cNvPr>
          <p:cNvSpPr txBox="1"/>
          <p:nvPr/>
        </p:nvSpPr>
        <p:spPr>
          <a:xfrm>
            <a:off x="8734636" y="935665"/>
            <a:ext cx="3594366" cy="312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96"/>
              </a:lnSpc>
            </a:pPr>
            <a:r>
              <a:rPr lang="en-US" sz="2133" b="1" dirty="0">
                <a:solidFill>
                  <a:srgbClr val="4E4E4E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SOLUÇÕES</a:t>
            </a:r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390A8251-D7F4-46EE-8249-5F899506D7DA}"/>
              </a:ext>
            </a:extLst>
          </p:cNvPr>
          <p:cNvSpPr txBox="1"/>
          <p:nvPr/>
        </p:nvSpPr>
        <p:spPr>
          <a:xfrm>
            <a:off x="9514641" y="3119922"/>
            <a:ext cx="2372407" cy="35640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200"/>
              </a:lnSpc>
            </a:pPr>
            <a:r>
              <a:rPr lang="en-US" sz="1000" b="1" spc="9" dirty="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SISTEMA ÚNICO INTEGRADO</a:t>
            </a:r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3AFE210E-8B1A-4457-B010-3EE3D7605B40}"/>
              </a:ext>
            </a:extLst>
          </p:cNvPr>
          <p:cNvSpPr txBox="1"/>
          <p:nvPr/>
        </p:nvSpPr>
        <p:spPr>
          <a:xfrm>
            <a:off x="9532512" y="4113725"/>
            <a:ext cx="2372407" cy="35640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200"/>
              </a:lnSpc>
            </a:pPr>
            <a:r>
              <a:rPr lang="en-US" sz="1000" b="1" spc="9" dirty="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DISPARO E RETORNO FUP </a:t>
            </a:r>
          </a:p>
        </p:txBody>
      </p:sp>
      <p:sp>
        <p:nvSpPr>
          <p:cNvPr id="62" name="Freeform 12">
            <a:extLst>
              <a:ext uri="{FF2B5EF4-FFF2-40B4-BE49-F238E27FC236}">
                <a16:creationId xmlns:a16="http://schemas.microsoft.com/office/drawing/2014/main" id="{595968B1-FCF9-499A-8AC9-236479D481DA}"/>
              </a:ext>
            </a:extLst>
          </p:cNvPr>
          <p:cNvSpPr/>
          <p:nvPr/>
        </p:nvSpPr>
        <p:spPr>
          <a:xfrm>
            <a:off x="9532512" y="3126447"/>
            <a:ext cx="2215709" cy="349882"/>
          </a:xfrm>
          <a:custGeom>
            <a:avLst/>
            <a:gdLst/>
            <a:ahLst/>
            <a:cxnLst/>
            <a:rect l="l" t="t" r="r" b="b"/>
            <a:pathLst>
              <a:path w="2916223" h="610623">
                <a:moveTo>
                  <a:pt x="0" y="101681"/>
                </a:moveTo>
                <a:cubicBezTo>
                  <a:pt x="0" y="45600"/>
                  <a:pt x="34459" y="0"/>
                  <a:pt x="76838" y="0"/>
                </a:cubicBezTo>
                <a:lnTo>
                  <a:pt x="2839385" y="0"/>
                </a:lnTo>
                <a:cubicBezTo>
                  <a:pt x="2881903" y="0"/>
                  <a:pt x="2916223" y="45600"/>
                  <a:pt x="2916223" y="101681"/>
                </a:cubicBezTo>
                <a:lnTo>
                  <a:pt x="2916223" y="508773"/>
                </a:lnTo>
                <a:cubicBezTo>
                  <a:pt x="2916223" y="565038"/>
                  <a:pt x="2881764" y="610454"/>
                  <a:pt x="2839385" y="610454"/>
                </a:cubicBezTo>
                <a:lnTo>
                  <a:pt x="76838" y="610454"/>
                </a:lnTo>
                <a:cubicBezTo>
                  <a:pt x="34459" y="610623"/>
                  <a:pt x="0" y="565038"/>
                  <a:pt x="0" y="508773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anchor="ctr"/>
          <a:lstStyle/>
          <a:p>
            <a:pPr algn="ctr">
              <a:lnSpc>
                <a:spcPts val="1200"/>
              </a:lnSpc>
            </a:pPr>
            <a:r>
              <a:rPr lang="en-US" sz="1200" b="1" spc="9" dirty="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SISTEMA ÚNICO INTEGRADO</a:t>
            </a:r>
          </a:p>
        </p:txBody>
      </p:sp>
      <p:sp>
        <p:nvSpPr>
          <p:cNvPr id="63" name="Freeform 12">
            <a:extLst>
              <a:ext uri="{FF2B5EF4-FFF2-40B4-BE49-F238E27FC236}">
                <a16:creationId xmlns:a16="http://schemas.microsoft.com/office/drawing/2014/main" id="{DB93D799-FDEB-443F-AF72-A9D535ED1336}"/>
              </a:ext>
            </a:extLst>
          </p:cNvPr>
          <p:cNvSpPr/>
          <p:nvPr/>
        </p:nvSpPr>
        <p:spPr>
          <a:xfrm>
            <a:off x="9532512" y="4138465"/>
            <a:ext cx="2215709" cy="349882"/>
          </a:xfrm>
          <a:custGeom>
            <a:avLst/>
            <a:gdLst/>
            <a:ahLst/>
            <a:cxnLst/>
            <a:rect l="l" t="t" r="r" b="b"/>
            <a:pathLst>
              <a:path w="2916223" h="610623">
                <a:moveTo>
                  <a:pt x="0" y="101681"/>
                </a:moveTo>
                <a:cubicBezTo>
                  <a:pt x="0" y="45600"/>
                  <a:pt x="34459" y="0"/>
                  <a:pt x="76838" y="0"/>
                </a:cubicBezTo>
                <a:lnTo>
                  <a:pt x="2839385" y="0"/>
                </a:lnTo>
                <a:cubicBezTo>
                  <a:pt x="2881903" y="0"/>
                  <a:pt x="2916223" y="45600"/>
                  <a:pt x="2916223" y="101681"/>
                </a:cubicBezTo>
                <a:lnTo>
                  <a:pt x="2916223" y="508773"/>
                </a:lnTo>
                <a:cubicBezTo>
                  <a:pt x="2916223" y="565038"/>
                  <a:pt x="2881764" y="610454"/>
                  <a:pt x="2839385" y="610454"/>
                </a:cubicBezTo>
                <a:lnTo>
                  <a:pt x="76838" y="610454"/>
                </a:lnTo>
                <a:cubicBezTo>
                  <a:pt x="34459" y="610623"/>
                  <a:pt x="0" y="565038"/>
                  <a:pt x="0" y="508773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anchor="ctr"/>
          <a:lstStyle/>
          <a:p>
            <a:pPr algn="ctr">
              <a:lnSpc>
                <a:spcPts val="1200"/>
              </a:lnSpc>
            </a:pPr>
            <a:r>
              <a:rPr lang="en-US" sz="1200" b="1" spc="9" dirty="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ENVIO RETORNO FUP</a:t>
            </a:r>
          </a:p>
        </p:txBody>
      </p:sp>
      <p:sp>
        <p:nvSpPr>
          <p:cNvPr id="64" name="Freeform 47">
            <a:extLst>
              <a:ext uri="{FF2B5EF4-FFF2-40B4-BE49-F238E27FC236}">
                <a16:creationId xmlns:a16="http://schemas.microsoft.com/office/drawing/2014/main" id="{A8E5248B-512C-4B58-9BDC-E8138BA6F096}"/>
              </a:ext>
            </a:extLst>
          </p:cNvPr>
          <p:cNvSpPr/>
          <p:nvPr/>
        </p:nvSpPr>
        <p:spPr>
          <a:xfrm>
            <a:off x="8333836" y="867942"/>
            <a:ext cx="277875" cy="834573"/>
          </a:xfrm>
          <a:custGeom>
            <a:avLst/>
            <a:gdLst/>
            <a:ahLst/>
            <a:cxnLst/>
            <a:rect l="l" t="t" r="r" b="b"/>
            <a:pathLst>
              <a:path w="528118" h="2472965">
                <a:moveTo>
                  <a:pt x="0" y="0"/>
                </a:moveTo>
                <a:lnTo>
                  <a:pt x="528118" y="0"/>
                </a:lnTo>
                <a:lnTo>
                  <a:pt x="528118" y="2472965"/>
                </a:lnTo>
                <a:lnTo>
                  <a:pt x="0" y="2472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pt-BR" sz="1200"/>
          </a:p>
        </p:txBody>
      </p:sp>
      <p:sp>
        <p:nvSpPr>
          <p:cNvPr id="65" name="TextBox 55">
            <a:extLst>
              <a:ext uri="{FF2B5EF4-FFF2-40B4-BE49-F238E27FC236}">
                <a16:creationId xmlns:a16="http://schemas.microsoft.com/office/drawing/2014/main" id="{291E722F-3575-4816-8324-707AD43E49B5}"/>
              </a:ext>
            </a:extLst>
          </p:cNvPr>
          <p:cNvSpPr txBox="1"/>
          <p:nvPr/>
        </p:nvSpPr>
        <p:spPr>
          <a:xfrm>
            <a:off x="8790162" y="1060564"/>
            <a:ext cx="2958059" cy="514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36"/>
              </a:lnSpc>
            </a:pPr>
            <a:r>
              <a:rPr lang="en-US" sz="1500" dirty="0">
                <a:solidFill>
                  <a:srgbClr val="1164A3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3 PROPOSTAS DE SOLUÇÕES</a:t>
            </a:r>
          </a:p>
        </p:txBody>
      </p:sp>
      <p:pic>
        <p:nvPicPr>
          <p:cNvPr id="66" name="Image 1">
            <a:extLst>
              <a:ext uri="{FF2B5EF4-FFF2-40B4-BE49-F238E27FC236}">
                <a16:creationId xmlns:a16="http://schemas.microsoft.com/office/drawing/2014/main" id="{A9036802-42CC-4B9B-B696-1CA60F89D583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38794" y="6149213"/>
            <a:ext cx="1509823" cy="6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Conector angulado 225">
            <a:extLst>
              <a:ext uri="{FF2B5EF4-FFF2-40B4-BE49-F238E27FC236}">
                <a16:creationId xmlns:a16="http://schemas.microsoft.com/office/drawing/2014/main" id="{EEC78FA9-F951-4379-9333-320A3C576840}"/>
              </a:ext>
            </a:extLst>
          </p:cNvPr>
          <p:cNvCxnSpPr>
            <a:cxnSpLocks/>
            <a:stCxn id="53" idx="3"/>
            <a:endCxn id="102" idx="2"/>
          </p:cNvCxnSpPr>
          <p:nvPr/>
        </p:nvCxnSpPr>
        <p:spPr>
          <a:xfrm flipV="1">
            <a:off x="5000406" y="2094788"/>
            <a:ext cx="727415" cy="590823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tângulo 109"/>
          <p:cNvSpPr/>
          <p:nvPr/>
        </p:nvSpPr>
        <p:spPr>
          <a:xfrm rot="5400000">
            <a:off x="5905500" y="-5905500"/>
            <a:ext cx="381002" cy="1219200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Macro Fluxograma TO BE - Realizar Agendamentos </a:t>
            </a: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9" name="Fluxograma: Conector 38"/>
          <p:cNvSpPr/>
          <p:nvPr/>
        </p:nvSpPr>
        <p:spPr>
          <a:xfrm>
            <a:off x="1135051" y="1760765"/>
            <a:ext cx="380856" cy="380856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911484" y="2203494"/>
            <a:ext cx="805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Necessidade Agendar Consulta Média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548441" y="381001"/>
            <a:ext cx="11643561" cy="6476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/>
          <p:cNvSpPr/>
          <p:nvPr/>
        </p:nvSpPr>
        <p:spPr>
          <a:xfrm>
            <a:off x="521785" y="381002"/>
            <a:ext cx="323082" cy="29267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endParaRPr lang="pt-B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844867" y="381002"/>
            <a:ext cx="11347136" cy="2926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sz="1000" dirty="0"/>
          </a:p>
        </p:txBody>
      </p:sp>
      <p:sp>
        <p:nvSpPr>
          <p:cNvPr id="48" name="Retângulo 47"/>
          <p:cNvSpPr/>
          <p:nvPr/>
        </p:nvSpPr>
        <p:spPr>
          <a:xfrm>
            <a:off x="521784" y="3307748"/>
            <a:ext cx="323083" cy="35502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Atendimento</a:t>
            </a:r>
            <a:endParaRPr lang="pt-B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2" y="381003"/>
            <a:ext cx="521783" cy="647699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Unimed Uberlândia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2" y="-1"/>
            <a:ext cx="4058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BE:</a:t>
            </a:r>
          </a:p>
        </p:txBody>
      </p:sp>
      <p:sp>
        <p:nvSpPr>
          <p:cNvPr id="65" name="Fluxograma: Decisão 64">
            <a:extLst>
              <a:ext uri="{FF2B5EF4-FFF2-40B4-BE49-F238E27FC236}">
                <a16:creationId xmlns:a16="http://schemas.microsoft.com/office/drawing/2014/main" id="{8B8F91AF-1B18-4ABD-A2EA-D6B782800AB4}"/>
              </a:ext>
            </a:extLst>
          </p:cNvPr>
          <p:cNvSpPr/>
          <p:nvPr/>
        </p:nvSpPr>
        <p:spPr>
          <a:xfrm>
            <a:off x="2925055" y="1679381"/>
            <a:ext cx="838200" cy="561594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900" dirty="0"/>
          </a:p>
        </p:txBody>
      </p:sp>
      <p:cxnSp>
        <p:nvCxnSpPr>
          <p:cNvPr id="70" name="Conector angulado 225">
            <a:extLst>
              <a:ext uri="{FF2B5EF4-FFF2-40B4-BE49-F238E27FC236}">
                <a16:creationId xmlns:a16="http://schemas.microsoft.com/office/drawing/2014/main" id="{AE56AC15-EAEC-4D43-AD81-2586B239D174}"/>
              </a:ext>
            </a:extLst>
          </p:cNvPr>
          <p:cNvCxnSpPr>
            <a:cxnSpLocks/>
            <a:stCxn id="65" idx="0"/>
            <a:endCxn id="52" idx="1"/>
          </p:cNvCxnSpPr>
          <p:nvPr/>
        </p:nvCxnSpPr>
        <p:spPr>
          <a:xfrm rot="5400000" flipH="1" flipV="1">
            <a:off x="3452197" y="1139623"/>
            <a:ext cx="431716" cy="647801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angulado 225">
            <a:extLst>
              <a:ext uri="{FF2B5EF4-FFF2-40B4-BE49-F238E27FC236}">
                <a16:creationId xmlns:a16="http://schemas.microsoft.com/office/drawing/2014/main" id="{97D3C510-A2C4-4C37-BE4B-C4B2F0D1772A}"/>
              </a:ext>
            </a:extLst>
          </p:cNvPr>
          <p:cNvCxnSpPr>
            <a:cxnSpLocks/>
            <a:stCxn id="65" idx="2"/>
          </p:cNvCxnSpPr>
          <p:nvPr/>
        </p:nvCxnSpPr>
        <p:spPr>
          <a:xfrm rot="16200000" flipH="1">
            <a:off x="3673829" y="1911301"/>
            <a:ext cx="444318" cy="1103666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de cantos arredondados 71">
            <a:extLst>
              <a:ext uri="{FF2B5EF4-FFF2-40B4-BE49-F238E27FC236}">
                <a16:creationId xmlns:a16="http://schemas.microsoft.com/office/drawing/2014/main" id="{892093D5-0A27-44BF-B433-872E29E1DEBD}"/>
              </a:ext>
            </a:extLst>
          </p:cNvPr>
          <p:cNvSpPr/>
          <p:nvPr/>
        </p:nvSpPr>
        <p:spPr>
          <a:xfrm>
            <a:off x="3928913" y="4869452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Acessar Sistema Integrado e informar todas as opções</a:t>
            </a:r>
          </a:p>
        </p:txBody>
      </p:sp>
      <p:sp>
        <p:nvSpPr>
          <p:cNvPr id="91" name="Retângulo de cantos arredondados 71">
            <a:extLst>
              <a:ext uri="{FF2B5EF4-FFF2-40B4-BE49-F238E27FC236}">
                <a16:creationId xmlns:a16="http://schemas.microsoft.com/office/drawing/2014/main" id="{BD347061-B958-4E61-A38F-D7FC69514017}"/>
              </a:ext>
            </a:extLst>
          </p:cNvPr>
          <p:cNvSpPr/>
          <p:nvPr/>
        </p:nvSpPr>
        <p:spPr>
          <a:xfrm>
            <a:off x="1718997" y="1689673"/>
            <a:ext cx="1004812" cy="533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Acionar o canal de Atendimento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25DA1A8-EFA2-401C-BAF3-2D26BB2C9D39}"/>
              </a:ext>
            </a:extLst>
          </p:cNvPr>
          <p:cNvSpPr txBox="1"/>
          <p:nvPr/>
        </p:nvSpPr>
        <p:spPr>
          <a:xfrm>
            <a:off x="3984573" y="1539173"/>
            <a:ext cx="10048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/>
              <a:t>Cadastro CPF/CNPL</a:t>
            </a:r>
          </a:p>
          <a:p>
            <a:r>
              <a:rPr lang="pt-BR" sz="800" dirty="0"/>
              <a:t>Especialidade desejada</a:t>
            </a:r>
          </a:p>
        </p:txBody>
      </p:sp>
      <p:cxnSp>
        <p:nvCxnSpPr>
          <p:cNvPr id="112" name="Conector angulado 225">
            <a:extLst>
              <a:ext uri="{FF2B5EF4-FFF2-40B4-BE49-F238E27FC236}">
                <a16:creationId xmlns:a16="http://schemas.microsoft.com/office/drawing/2014/main" id="{A9F17A5E-6ED1-4CFE-B05F-6977BCD7C882}"/>
              </a:ext>
            </a:extLst>
          </p:cNvPr>
          <p:cNvCxnSpPr>
            <a:cxnSpLocks/>
            <a:stCxn id="115" idx="3"/>
            <a:endCxn id="114" idx="2"/>
          </p:cNvCxnSpPr>
          <p:nvPr/>
        </p:nvCxnSpPr>
        <p:spPr>
          <a:xfrm flipV="1">
            <a:off x="8851668" y="1534121"/>
            <a:ext cx="1887236" cy="3604941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tângulo de cantos arredondados 71">
            <a:extLst>
              <a:ext uri="{FF2B5EF4-FFF2-40B4-BE49-F238E27FC236}">
                <a16:creationId xmlns:a16="http://schemas.microsoft.com/office/drawing/2014/main" id="{3776EDE7-7D60-470C-A09D-E1A7E812F270}"/>
              </a:ext>
            </a:extLst>
          </p:cNvPr>
          <p:cNvSpPr/>
          <p:nvPr/>
        </p:nvSpPr>
        <p:spPr>
          <a:xfrm>
            <a:off x="10236498" y="1000721"/>
            <a:ext cx="1004812" cy="533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Receber conformação do agendamento</a:t>
            </a:r>
          </a:p>
        </p:txBody>
      </p:sp>
      <p:cxnSp>
        <p:nvCxnSpPr>
          <p:cNvPr id="122" name="Conector angulado 225">
            <a:extLst>
              <a:ext uri="{FF2B5EF4-FFF2-40B4-BE49-F238E27FC236}">
                <a16:creationId xmlns:a16="http://schemas.microsoft.com/office/drawing/2014/main" id="{EDB4C349-5042-4D31-B140-2D1EF2A7C236}"/>
              </a:ext>
            </a:extLst>
          </p:cNvPr>
          <p:cNvCxnSpPr>
            <a:cxnSpLocks/>
            <a:stCxn id="39" idx="6"/>
            <a:endCxn id="91" idx="1"/>
          </p:cNvCxnSpPr>
          <p:nvPr/>
        </p:nvCxnSpPr>
        <p:spPr>
          <a:xfrm>
            <a:off x="1515907" y="1951193"/>
            <a:ext cx="203090" cy="518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5675D8F-8C34-4D3C-9402-7D6F0D1A072D}"/>
              </a:ext>
            </a:extLst>
          </p:cNvPr>
          <p:cNvSpPr txBox="1"/>
          <p:nvPr/>
        </p:nvSpPr>
        <p:spPr>
          <a:xfrm>
            <a:off x="3285148" y="988386"/>
            <a:ext cx="754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/>
              <a:t>URA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9DAB18E5-8350-42BD-8123-81D34F7DFA65}"/>
              </a:ext>
            </a:extLst>
          </p:cNvPr>
          <p:cNvSpPr txBox="1"/>
          <p:nvPr/>
        </p:nvSpPr>
        <p:spPr>
          <a:xfrm>
            <a:off x="3332568" y="2419165"/>
            <a:ext cx="754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/>
              <a:t>BOT</a:t>
            </a:r>
          </a:p>
        </p:txBody>
      </p:sp>
      <p:sp>
        <p:nvSpPr>
          <p:cNvPr id="52" name="Retângulo de cantos arredondados 71">
            <a:extLst>
              <a:ext uri="{FF2B5EF4-FFF2-40B4-BE49-F238E27FC236}">
                <a16:creationId xmlns:a16="http://schemas.microsoft.com/office/drawing/2014/main" id="{AF14642A-F23D-4019-A218-DC65AFAB400E}"/>
              </a:ext>
            </a:extLst>
          </p:cNvPr>
          <p:cNvSpPr/>
          <p:nvPr/>
        </p:nvSpPr>
        <p:spPr>
          <a:xfrm>
            <a:off x="3991956" y="980965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Responder todas as opções do Menu da URA</a:t>
            </a:r>
          </a:p>
        </p:txBody>
      </p:sp>
      <p:sp>
        <p:nvSpPr>
          <p:cNvPr id="53" name="Retângulo de cantos arredondados 71">
            <a:extLst>
              <a:ext uri="{FF2B5EF4-FFF2-40B4-BE49-F238E27FC236}">
                <a16:creationId xmlns:a16="http://schemas.microsoft.com/office/drawing/2014/main" id="{F0DB6335-D3D1-4E76-AD16-3230296E6FFE}"/>
              </a:ext>
            </a:extLst>
          </p:cNvPr>
          <p:cNvSpPr/>
          <p:nvPr/>
        </p:nvSpPr>
        <p:spPr>
          <a:xfrm>
            <a:off x="3995594" y="2418911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Responder todas as opções do Menu do BOT</a:t>
            </a:r>
          </a:p>
        </p:txBody>
      </p:sp>
      <p:sp>
        <p:nvSpPr>
          <p:cNvPr id="56" name="Rosca 43">
            <a:extLst>
              <a:ext uri="{FF2B5EF4-FFF2-40B4-BE49-F238E27FC236}">
                <a16:creationId xmlns:a16="http://schemas.microsoft.com/office/drawing/2014/main" id="{21A8BB51-F0D2-42AE-A1CC-466097380E71}"/>
              </a:ext>
            </a:extLst>
          </p:cNvPr>
          <p:cNvSpPr/>
          <p:nvPr/>
        </p:nvSpPr>
        <p:spPr>
          <a:xfrm>
            <a:off x="11596160" y="1095543"/>
            <a:ext cx="370944" cy="341804"/>
          </a:xfrm>
          <a:prstGeom prst="donut">
            <a:avLst>
              <a:gd name="adj" fmla="val 62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BF3942F-FF6F-4532-B29A-7EACE340EEE2}"/>
              </a:ext>
            </a:extLst>
          </p:cNvPr>
          <p:cNvSpPr txBox="1"/>
          <p:nvPr/>
        </p:nvSpPr>
        <p:spPr>
          <a:xfrm>
            <a:off x="11312829" y="1452445"/>
            <a:ext cx="916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Agendamento Realizado</a:t>
            </a:r>
          </a:p>
        </p:txBody>
      </p:sp>
      <p:sp>
        <p:nvSpPr>
          <p:cNvPr id="59" name="Retângulo de cantos arredondados 71">
            <a:extLst>
              <a:ext uri="{FF2B5EF4-FFF2-40B4-BE49-F238E27FC236}">
                <a16:creationId xmlns:a16="http://schemas.microsoft.com/office/drawing/2014/main" id="{F67335AB-8498-4F24-9219-025B47258880}"/>
              </a:ext>
            </a:extLst>
          </p:cNvPr>
          <p:cNvSpPr/>
          <p:nvPr/>
        </p:nvSpPr>
        <p:spPr>
          <a:xfrm>
            <a:off x="6691680" y="1560246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Aceitar agendamento prévio sugerido pelo sistema?</a:t>
            </a:r>
          </a:p>
        </p:txBody>
      </p:sp>
      <p:sp>
        <p:nvSpPr>
          <p:cNvPr id="60" name="Fluxograma: Decisão 59">
            <a:extLst>
              <a:ext uri="{FF2B5EF4-FFF2-40B4-BE49-F238E27FC236}">
                <a16:creationId xmlns:a16="http://schemas.microsoft.com/office/drawing/2014/main" id="{9DCDE869-1CAB-40DE-9153-AE788D26D633}"/>
              </a:ext>
            </a:extLst>
          </p:cNvPr>
          <p:cNvSpPr/>
          <p:nvPr/>
        </p:nvSpPr>
        <p:spPr>
          <a:xfrm>
            <a:off x="7973472" y="1547503"/>
            <a:ext cx="838200" cy="561594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900" dirty="0"/>
          </a:p>
        </p:txBody>
      </p:sp>
      <p:cxnSp>
        <p:nvCxnSpPr>
          <p:cNvPr id="62" name="Conector angulado 225">
            <a:extLst>
              <a:ext uri="{FF2B5EF4-FFF2-40B4-BE49-F238E27FC236}">
                <a16:creationId xmlns:a16="http://schemas.microsoft.com/office/drawing/2014/main" id="{B27F4494-74E8-4D28-AF96-6BD3B46CBCA8}"/>
              </a:ext>
            </a:extLst>
          </p:cNvPr>
          <p:cNvCxnSpPr>
            <a:cxnSpLocks/>
            <a:stCxn id="60" idx="0"/>
            <a:endCxn id="114" idx="1"/>
          </p:cNvCxnSpPr>
          <p:nvPr/>
        </p:nvCxnSpPr>
        <p:spPr>
          <a:xfrm rot="5400000" flipH="1" flipV="1">
            <a:off x="9174494" y="485499"/>
            <a:ext cx="280082" cy="1843926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BFD377B-F716-48AC-A3F9-06BAF1A643D0}"/>
              </a:ext>
            </a:extLst>
          </p:cNvPr>
          <p:cNvSpPr txBox="1"/>
          <p:nvPr/>
        </p:nvSpPr>
        <p:spPr>
          <a:xfrm>
            <a:off x="8261205" y="1030342"/>
            <a:ext cx="754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/>
              <a:t>SIM</a:t>
            </a:r>
          </a:p>
        </p:txBody>
      </p:sp>
      <p:cxnSp>
        <p:nvCxnSpPr>
          <p:cNvPr id="64" name="Conector angulado 225">
            <a:extLst>
              <a:ext uri="{FF2B5EF4-FFF2-40B4-BE49-F238E27FC236}">
                <a16:creationId xmlns:a16="http://schemas.microsoft.com/office/drawing/2014/main" id="{0766E16E-97CC-431E-9723-A875ED2F83B6}"/>
              </a:ext>
            </a:extLst>
          </p:cNvPr>
          <p:cNvCxnSpPr>
            <a:cxnSpLocks/>
            <a:stCxn id="52" idx="3"/>
            <a:endCxn id="102" idx="0"/>
          </p:cNvCxnSpPr>
          <p:nvPr/>
        </p:nvCxnSpPr>
        <p:spPr>
          <a:xfrm>
            <a:off x="4996768" y="1247665"/>
            <a:ext cx="731053" cy="313723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do 225">
            <a:extLst>
              <a:ext uri="{FF2B5EF4-FFF2-40B4-BE49-F238E27FC236}">
                <a16:creationId xmlns:a16="http://schemas.microsoft.com/office/drawing/2014/main" id="{DB5F638A-08BB-41F5-B1D7-540675C7B3EF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7696492" y="1826946"/>
            <a:ext cx="276980" cy="13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do 225">
            <a:extLst>
              <a:ext uri="{FF2B5EF4-FFF2-40B4-BE49-F238E27FC236}">
                <a16:creationId xmlns:a16="http://schemas.microsoft.com/office/drawing/2014/main" id="{11472A01-E9DA-4B79-849A-A03B42080DE7}"/>
              </a:ext>
            </a:extLst>
          </p:cNvPr>
          <p:cNvCxnSpPr>
            <a:cxnSpLocks/>
            <a:stCxn id="114" idx="3"/>
            <a:endCxn id="56" idx="2"/>
          </p:cNvCxnSpPr>
          <p:nvPr/>
        </p:nvCxnSpPr>
        <p:spPr>
          <a:xfrm flipV="1">
            <a:off x="11241310" y="1266445"/>
            <a:ext cx="354850" cy="97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do 225">
            <a:extLst>
              <a:ext uri="{FF2B5EF4-FFF2-40B4-BE49-F238E27FC236}">
                <a16:creationId xmlns:a16="http://schemas.microsoft.com/office/drawing/2014/main" id="{B7724968-299A-4642-B576-CEB38793D7C2}"/>
              </a:ext>
            </a:extLst>
          </p:cNvPr>
          <p:cNvCxnSpPr>
            <a:cxnSpLocks/>
            <a:stCxn id="60" idx="2"/>
            <a:endCxn id="80" idx="1"/>
          </p:cNvCxnSpPr>
          <p:nvPr/>
        </p:nvCxnSpPr>
        <p:spPr>
          <a:xfrm rot="5400000">
            <a:off x="4647216" y="1390795"/>
            <a:ext cx="3027055" cy="4463659"/>
          </a:xfrm>
          <a:prstGeom prst="bentConnector4">
            <a:avLst>
              <a:gd name="adj1" fmla="val 45595"/>
              <a:gd name="adj2" fmla="val 112505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do 225">
            <a:extLst>
              <a:ext uri="{FF2B5EF4-FFF2-40B4-BE49-F238E27FC236}">
                <a16:creationId xmlns:a16="http://schemas.microsoft.com/office/drawing/2014/main" id="{14AC6503-E685-4392-81CC-62668D6EBA48}"/>
              </a:ext>
            </a:extLst>
          </p:cNvPr>
          <p:cNvCxnSpPr>
            <a:cxnSpLocks/>
            <a:stCxn id="91" idx="3"/>
            <a:endCxn id="65" idx="1"/>
          </p:cNvCxnSpPr>
          <p:nvPr/>
        </p:nvCxnSpPr>
        <p:spPr>
          <a:xfrm>
            <a:off x="2723809" y="1956373"/>
            <a:ext cx="201246" cy="380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AC035BCD-629A-4F7A-B7E9-D25E46EBC06E}"/>
              </a:ext>
            </a:extLst>
          </p:cNvPr>
          <p:cNvSpPr txBox="1"/>
          <p:nvPr/>
        </p:nvSpPr>
        <p:spPr>
          <a:xfrm>
            <a:off x="8338461" y="2508693"/>
            <a:ext cx="7543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/>
              <a:t>NÃO</a:t>
            </a:r>
          </a:p>
        </p:txBody>
      </p:sp>
      <p:sp>
        <p:nvSpPr>
          <p:cNvPr id="94" name="Retângulo de cantos arredondados 71">
            <a:extLst>
              <a:ext uri="{FF2B5EF4-FFF2-40B4-BE49-F238E27FC236}">
                <a16:creationId xmlns:a16="http://schemas.microsoft.com/office/drawing/2014/main" id="{53099C23-7953-4585-9EA8-41FF638AF0F5}"/>
              </a:ext>
            </a:extLst>
          </p:cNvPr>
          <p:cNvSpPr/>
          <p:nvPr/>
        </p:nvSpPr>
        <p:spPr>
          <a:xfrm>
            <a:off x="6421706" y="4870361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Realizar agendamento conforme aceite do cliente</a:t>
            </a:r>
          </a:p>
        </p:txBody>
      </p:sp>
      <p:cxnSp>
        <p:nvCxnSpPr>
          <p:cNvPr id="99" name="Conector angulado 225">
            <a:extLst>
              <a:ext uri="{FF2B5EF4-FFF2-40B4-BE49-F238E27FC236}">
                <a16:creationId xmlns:a16="http://schemas.microsoft.com/office/drawing/2014/main" id="{2AD15177-6772-4880-B3A3-C149773F67B3}"/>
              </a:ext>
            </a:extLst>
          </p:cNvPr>
          <p:cNvCxnSpPr>
            <a:cxnSpLocks/>
            <a:stCxn id="80" idx="3"/>
            <a:endCxn id="94" idx="1"/>
          </p:cNvCxnSpPr>
          <p:nvPr/>
        </p:nvCxnSpPr>
        <p:spPr>
          <a:xfrm>
            <a:off x="4933725" y="5136152"/>
            <a:ext cx="1487981" cy="90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ângulo de cantos arredondados 71">
            <a:extLst>
              <a:ext uri="{FF2B5EF4-FFF2-40B4-BE49-F238E27FC236}">
                <a16:creationId xmlns:a16="http://schemas.microsoft.com/office/drawing/2014/main" id="{886F2373-26F5-4157-B153-BB6687C87205}"/>
              </a:ext>
            </a:extLst>
          </p:cNvPr>
          <p:cNvSpPr/>
          <p:nvPr/>
        </p:nvSpPr>
        <p:spPr>
          <a:xfrm>
            <a:off x="5225415" y="1561388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Disponibilizar opções para escolha do cliente.</a:t>
            </a:r>
          </a:p>
        </p:txBody>
      </p:sp>
      <p:cxnSp>
        <p:nvCxnSpPr>
          <p:cNvPr id="106" name="Conector angulado 225">
            <a:extLst>
              <a:ext uri="{FF2B5EF4-FFF2-40B4-BE49-F238E27FC236}">
                <a16:creationId xmlns:a16="http://schemas.microsoft.com/office/drawing/2014/main" id="{6AA9110A-E386-493F-88E2-B58517D71D15}"/>
              </a:ext>
            </a:extLst>
          </p:cNvPr>
          <p:cNvCxnSpPr>
            <a:cxnSpLocks/>
            <a:stCxn id="102" idx="3"/>
            <a:endCxn id="59" idx="1"/>
          </p:cNvCxnSpPr>
          <p:nvPr/>
        </p:nvCxnSpPr>
        <p:spPr>
          <a:xfrm flipV="1">
            <a:off x="6230227" y="1826946"/>
            <a:ext cx="461453" cy="114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tângulo de cantos arredondados 71">
            <a:extLst>
              <a:ext uri="{FF2B5EF4-FFF2-40B4-BE49-F238E27FC236}">
                <a16:creationId xmlns:a16="http://schemas.microsoft.com/office/drawing/2014/main" id="{C4A8DE63-290E-4F3C-96FD-C438BA8D383B}"/>
              </a:ext>
            </a:extLst>
          </p:cNvPr>
          <p:cNvSpPr/>
          <p:nvPr/>
        </p:nvSpPr>
        <p:spPr>
          <a:xfrm>
            <a:off x="7846856" y="4872362"/>
            <a:ext cx="1004812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Envio de disparo automático do agendamento</a:t>
            </a:r>
          </a:p>
        </p:txBody>
      </p:sp>
      <p:sp>
        <p:nvSpPr>
          <p:cNvPr id="96" name="Texto Explicativo: Linha Dobrada 95">
            <a:extLst>
              <a:ext uri="{FF2B5EF4-FFF2-40B4-BE49-F238E27FC236}">
                <a16:creationId xmlns:a16="http://schemas.microsoft.com/office/drawing/2014/main" id="{E408212C-D081-4229-A69A-FE8A9D4F7B6F}"/>
              </a:ext>
            </a:extLst>
          </p:cNvPr>
          <p:cNvSpPr/>
          <p:nvPr/>
        </p:nvSpPr>
        <p:spPr>
          <a:xfrm>
            <a:off x="6627258" y="760089"/>
            <a:ext cx="1147691" cy="707886"/>
          </a:xfrm>
          <a:prstGeom prst="borderCallout2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/>
                </a:solidFill>
              </a:rPr>
              <a:t>Sistema trará as opções prévias de agendamento disponíveis direto do sistema integrado</a:t>
            </a:r>
          </a:p>
        </p:txBody>
      </p:sp>
      <p:sp>
        <p:nvSpPr>
          <p:cNvPr id="118" name="Texto Explicativo: Linha Dobrada 117">
            <a:extLst>
              <a:ext uri="{FF2B5EF4-FFF2-40B4-BE49-F238E27FC236}">
                <a16:creationId xmlns:a16="http://schemas.microsoft.com/office/drawing/2014/main" id="{39E6868F-A1D4-4F96-8E2A-2F8198AFC9D6}"/>
              </a:ext>
            </a:extLst>
          </p:cNvPr>
          <p:cNvSpPr/>
          <p:nvPr/>
        </p:nvSpPr>
        <p:spPr>
          <a:xfrm>
            <a:off x="4784092" y="4067588"/>
            <a:ext cx="1147691" cy="707886"/>
          </a:xfrm>
          <a:prstGeom prst="borderCallout2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/>
                </a:solidFill>
              </a:rPr>
              <a:t>Sistema trará as opções prévias de agendamento disponíveis direto do sistema integrado</a:t>
            </a:r>
          </a:p>
        </p:txBody>
      </p:sp>
      <p:sp>
        <p:nvSpPr>
          <p:cNvPr id="120" name="Texto Explicativo: Linha Dobrada 119">
            <a:extLst>
              <a:ext uri="{FF2B5EF4-FFF2-40B4-BE49-F238E27FC236}">
                <a16:creationId xmlns:a16="http://schemas.microsoft.com/office/drawing/2014/main" id="{CBA0ADE6-68CF-4382-B7FE-6E0C27F48AE5}"/>
              </a:ext>
            </a:extLst>
          </p:cNvPr>
          <p:cNvSpPr/>
          <p:nvPr/>
        </p:nvSpPr>
        <p:spPr>
          <a:xfrm>
            <a:off x="9202697" y="1937320"/>
            <a:ext cx="1147691" cy="584775"/>
          </a:xfrm>
          <a:prstGeom prst="borderCallout2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/>
              <a:t>URA / BOT envia transferência da chamada para atendimento  humano</a:t>
            </a:r>
          </a:p>
        </p:txBody>
      </p:sp>
      <p:cxnSp>
        <p:nvCxnSpPr>
          <p:cNvPr id="125" name="Conector angulado 225">
            <a:extLst>
              <a:ext uri="{FF2B5EF4-FFF2-40B4-BE49-F238E27FC236}">
                <a16:creationId xmlns:a16="http://schemas.microsoft.com/office/drawing/2014/main" id="{D2FD0980-14C8-47A0-889F-EDA3F9D7BCE6}"/>
              </a:ext>
            </a:extLst>
          </p:cNvPr>
          <p:cNvCxnSpPr>
            <a:cxnSpLocks/>
            <a:stCxn id="94" idx="3"/>
            <a:endCxn id="115" idx="1"/>
          </p:cNvCxnSpPr>
          <p:nvPr/>
        </p:nvCxnSpPr>
        <p:spPr>
          <a:xfrm>
            <a:off x="7426518" y="5137061"/>
            <a:ext cx="420338" cy="200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o Explicativo: Linha Dobrada 129">
            <a:extLst>
              <a:ext uri="{FF2B5EF4-FFF2-40B4-BE49-F238E27FC236}">
                <a16:creationId xmlns:a16="http://schemas.microsoft.com/office/drawing/2014/main" id="{FFCBF7F9-820C-491A-9F92-9EE1E83C367B}"/>
              </a:ext>
            </a:extLst>
          </p:cNvPr>
          <p:cNvSpPr/>
          <p:nvPr/>
        </p:nvSpPr>
        <p:spPr>
          <a:xfrm>
            <a:off x="8758507" y="4201305"/>
            <a:ext cx="1147691" cy="584775"/>
          </a:xfrm>
          <a:prstGeom prst="borderCallout2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/>
                </a:solidFill>
              </a:rPr>
              <a:t>Sistema realiza FUP do retorno da confirmação do cliente e deixa em tempo real</a:t>
            </a:r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6F57B55E-DD98-483E-B3C6-36232998DE43}"/>
              </a:ext>
            </a:extLst>
          </p:cNvPr>
          <p:cNvSpPr txBox="1"/>
          <p:nvPr/>
        </p:nvSpPr>
        <p:spPr>
          <a:xfrm>
            <a:off x="6613649" y="2127512"/>
            <a:ext cx="114769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800" dirty="0"/>
              <a:t>Cliente responde na opção da URA / BOT</a:t>
            </a:r>
          </a:p>
        </p:txBody>
      </p:sp>
      <p:sp>
        <p:nvSpPr>
          <p:cNvPr id="261" name="Retângulo 260">
            <a:extLst>
              <a:ext uri="{FF2B5EF4-FFF2-40B4-BE49-F238E27FC236}">
                <a16:creationId xmlns:a16="http://schemas.microsoft.com/office/drawing/2014/main" id="{06102E60-FD61-4392-9218-902E3BB8B216}"/>
              </a:ext>
            </a:extLst>
          </p:cNvPr>
          <p:cNvSpPr/>
          <p:nvPr/>
        </p:nvSpPr>
        <p:spPr>
          <a:xfrm>
            <a:off x="3184791" y="3617561"/>
            <a:ext cx="3124090" cy="2066299"/>
          </a:xfrm>
          <a:prstGeom prst="rect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D51D1953-2BD1-4BF5-AD8C-488BD18445B4}"/>
              </a:ext>
            </a:extLst>
          </p:cNvPr>
          <p:cNvSpPr/>
          <p:nvPr/>
        </p:nvSpPr>
        <p:spPr>
          <a:xfrm>
            <a:off x="3184791" y="489259"/>
            <a:ext cx="3152214" cy="2640989"/>
          </a:xfrm>
          <a:prstGeom prst="rect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8" name="Retângulo 137">
            <a:extLst>
              <a:ext uri="{FF2B5EF4-FFF2-40B4-BE49-F238E27FC236}">
                <a16:creationId xmlns:a16="http://schemas.microsoft.com/office/drawing/2014/main" id="{C7461363-0BFA-4ABC-863B-A05F86C1FF3D}"/>
              </a:ext>
            </a:extLst>
          </p:cNvPr>
          <p:cNvSpPr/>
          <p:nvPr/>
        </p:nvSpPr>
        <p:spPr>
          <a:xfrm>
            <a:off x="7581134" y="3617561"/>
            <a:ext cx="2655364" cy="2048605"/>
          </a:xfrm>
          <a:prstGeom prst="rect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7ACAAD-597B-4552-989D-6783C4243915}"/>
              </a:ext>
            </a:extLst>
          </p:cNvPr>
          <p:cNvSpPr txBox="1"/>
          <p:nvPr/>
        </p:nvSpPr>
        <p:spPr>
          <a:xfrm>
            <a:off x="3892644" y="469668"/>
            <a:ext cx="151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 01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2A32A99-B0B1-44CE-A523-A8FB232635EE}"/>
              </a:ext>
            </a:extLst>
          </p:cNvPr>
          <p:cNvSpPr txBox="1"/>
          <p:nvPr/>
        </p:nvSpPr>
        <p:spPr>
          <a:xfrm>
            <a:off x="4158535" y="3663648"/>
            <a:ext cx="151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 02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51491EB-A2E1-404F-BE27-ECCC3E2F6C03}"/>
              </a:ext>
            </a:extLst>
          </p:cNvPr>
          <p:cNvSpPr txBox="1"/>
          <p:nvPr/>
        </p:nvSpPr>
        <p:spPr>
          <a:xfrm>
            <a:off x="8133838" y="3644536"/>
            <a:ext cx="151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SOLUÇÃO 03</a:t>
            </a:r>
          </a:p>
        </p:txBody>
      </p:sp>
      <p:pic>
        <p:nvPicPr>
          <p:cNvPr id="1026" name="Picture 2" descr="Uma imagem com preto, escuridão&#10;&#10;Os conteúdos gerados pela IA podem estar incorretos.">
            <a:extLst>
              <a:ext uri="{FF2B5EF4-FFF2-40B4-BE49-F238E27FC236}">
                <a16:creationId xmlns:a16="http://schemas.microsoft.com/office/drawing/2014/main" id="{90E931DA-0A80-47F7-AB19-A4A8EF946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897" y="734354"/>
            <a:ext cx="354934" cy="35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ma imagem com Gráficos, clipart, círculo, logótipo&#10;&#10;Os conteúdos gerados pela IA podem estar incorretos.">
            <a:extLst>
              <a:ext uri="{FF2B5EF4-FFF2-40B4-BE49-F238E27FC236}">
                <a16:creationId xmlns:a16="http://schemas.microsoft.com/office/drawing/2014/main" id="{69AF1B67-3980-4D5A-A09D-98A26F2A3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722" y="2110378"/>
            <a:ext cx="406913" cy="40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ma imagem com captura de ecrã, Gráficos, clipart, design&#10;&#10;Os conteúdos gerados pela IA podem estar incorretos.">
            <a:extLst>
              <a:ext uri="{FF2B5EF4-FFF2-40B4-BE49-F238E27FC236}">
                <a16:creationId xmlns:a16="http://schemas.microsoft.com/office/drawing/2014/main" id="{2F36A3C0-7A84-4EA0-9863-C224762FB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214" y="3633217"/>
            <a:ext cx="513706" cy="51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stetoscópio icon">
            <a:extLst>
              <a:ext uri="{FF2B5EF4-FFF2-40B4-BE49-F238E27FC236}">
                <a16:creationId xmlns:a16="http://schemas.microsoft.com/office/drawing/2014/main" id="{B421F272-C4FB-47B2-B313-237E3013F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322" y="3694404"/>
            <a:ext cx="481215" cy="48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 1">
            <a:extLst>
              <a:ext uri="{FF2B5EF4-FFF2-40B4-BE49-F238E27FC236}">
                <a16:creationId xmlns:a16="http://schemas.microsoft.com/office/drawing/2014/main" id="{AF3F565B-54E4-4518-9F3E-13A72147CA8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38794" y="6149213"/>
            <a:ext cx="1509823" cy="6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5">
            <a:extLst>
              <a:ext uri="{FF2B5EF4-FFF2-40B4-BE49-F238E27FC236}">
                <a16:creationId xmlns:a16="http://schemas.microsoft.com/office/drawing/2014/main" id="{E000528D-5B88-4FA6-AC38-1EE588B73127}"/>
              </a:ext>
            </a:extLst>
          </p:cNvPr>
          <p:cNvSpPr txBox="1"/>
          <p:nvPr/>
        </p:nvSpPr>
        <p:spPr>
          <a:xfrm>
            <a:off x="5174292" y="2831917"/>
            <a:ext cx="6465711" cy="51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6"/>
              </a:lnSpc>
            </a:pPr>
            <a:r>
              <a:rPr lang="en-US" sz="1600" dirty="0">
                <a:solidFill>
                  <a:srgbClr val="1164A3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ANDRÉ LUIZ FONSECA SILVA</a:t>
            </a:r>
          </a:p>
        </p:txBody>
      </p:sp>
      <p:sp>
        <p:nvSpPr>
          <p:cNvPr id="3" name="TextBox 56">
            <a:extLst>
              <a:ext uri="{FF2B5EF4-FFF2-40B4-BE49-F238E27FC236}">
                <a16:creationId xmlns:a16="http://schemas.microsoft.com/office/drawing/2014/main" id="{D8E60FCC-FC34-43CE-9476-3160CDEF6EA2}"/>
              </a:ext>
            </a:extLst>
          </p:cNvPr>
          <p:cNvSpPr txBox="1"/>
          <p:nvPr/>
        </p:nvSpPr>
        <p:spPr>
          <a:xfrm>
            <a:off x="5174292" y="2670783"/>
            <a:ext cx="6063423" cy="32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6"/>
              </a:lnSpc>
            </a:pPr>
            <a:r>
              <a:rPr lang="en-US" sz="2133" b="1" dirty="0">
                <a:solidFill>
                  <a:srgbClr val="4E4E4E"/>
                </a:solidFill>
                <a:latin typeface="Arial" panose="020B0604020202020204" pitchFamily="34" charset="0"/>
                <a:ea typeface="Exo 2 Bold"/>
                <a:cs typeface="Arial" panose="020B0604020202020204" pitchFamily="34" charset="0"/>
                <a:sym typeface="Exo 2 Bold"/>
              </a:rPr>
              <a:t>OBRIGADO!</a:t>
            </a:r>
          </a:p>
        </p:txBody>
      </p:sp>
      <p:sp>
        <p:nvSpPr>
          <p:cNvPr id="4" name="Freeform 47">
            <a:extLst>
              <a:ext uri="{FF2B5EF4-FFF2-40B4-BE49-F238E27FC236}">
                <a16:creationId xmlns:a16="http://schemas.microsoft.com/office/drawing/2014/main" id="{B13B52BA-DB90-4D4E-86CD-8CFB2BBFE443}"/>
              </a:ext>
            </a:extLst>
          </p:cNvPr>
          <p:cNvSpPr/>
          <p:nvPr/>
        </p:nvSpPr>
        <p:spPr>
          <a:xfrm>
            <a:off x="296283" y="1"/>
            <a:ext cx="277875" cy="935664"/>
          </a:xfrm>
          <a:custGeom>
            <a:avLst/>
            <a:gdLst/>
            <a:ahLst/>
            <a:cxnLst/>
            <a:rect l="l" t="t" r="r" b="b"/>
            <a:pathLst>
              <a:path w="528118" h="2472965">
                <a:moveTo>
                  <a:pt x="0" y="0"/>
                </a:moveTo>
                <a:lnTo>
                  <a:pt x="528118" y="0"/>
                </a:lnTo>
                <a:lnTo>
                  <a:pt x="528118" y="2472965"/>
                </a:lnTo>
                <a:lnTo>
                  <a:pt x="0" y="2472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pt-BR" sz="1200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48A1B95F-7E8B-495A-890F-2974152B62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2314" y="2583201"/>
            <a:ext cx="2329959" cy="1011674"/>
          </a:xfrm>
          <a:prstGeom prst="rect">
            <a:avLst/>
          </a:prstGeom>
        </p:spPr>
      </p:pic>
      <p:pic>
        <p:nvPicPr>
          <p:cNvPr id="6" name="Image 1">
            <a:extLst>
              <a:ext uri="{FF2B5EF4-FFF2-40B4-BE49-F238E27FC236}">
                <a16:creationId xmlns:a16="http://schemas.microsoft.com/office/drawing/2014/main" id="{61A8736A-111B-4AB7-844E-88583A1070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794" y="6149213"/>
            <a:ext cx="1509823" cy="6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51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320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Exo 2</vt:lpstr>
      <vt:lpstr>Exo 2 Bold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Luiz Fonseca Silva</dc:creator>
  <cp:lastModifiedBy>Andre Luiz Fonseca Silva</cp:lastModifiedBy>
  <cp:revision>25</cp:revision>
  <dcterms:created xsi:type="dcterms:W3CDTF">2025-04-11T20:09:12Z</dcterms:created>
  <dcterms:modified xsi:type="dcterms:W3CDTF">2025-04-13T23:38:34Z</dcterms:modified>
</cp:coreProperties>
</file>